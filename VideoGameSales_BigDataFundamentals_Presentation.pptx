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73" autoAdjust="0"/>
    <p:restoredTop sz="78571" autoAdjust="0"/>
  </p:normalViewPr>
  <p:slideViewPr>
    <p:cSldViewPr snapToGrid="0" snapToObjects="1">
      <p:cViewPr varScale="1">
        <p:scale>
          <a:sx n="115" d="100"/>
          <a:sy n="115" d="100"/>
        </p:scale>
        <p:origin x="19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Global Sales by Genre (millions)</a:t>
            </a:r>
          </a:p>
        </c:rich>
      </c:tx>
      <c:overlay val="0"/>
    </c:title>
    <c:autoTitleDeleted val="0"/>
    <c:plotArea>
      <c:layout/>
      <c:barChart>
        <c:barDir val="bar"/>
        <c:grouping val="clustered"/>
        <c:varyColors val="0"/>
        <c:ser>
          <c:idx val="0"/>
          <c:order val="0"/>
          <c:tx>
            <c:strRef>
              <c:f>Sheet1!$B$1</c:f>
              <c:strCache>
                <c:ptCount val="1"/>
                <c:pt idx="0">
                  <c:v>Global Sales (M)</c:v>
                </c:pt>
              </c:strCache>
            </c:strRef>
          </c:tx>
          <c:spPr>
            <a:solidFill>
              <a:srgbClr val="7030A0"/>
            </a:solidFill>
            <a:ln>
              <a:solidFill>
                <a:srgbClr val="7030A0"/>
              </a:solidFill>
            </a:ln>
            <a:effectLst/>
          </c:spPr>
          <c:invertIfNegative val="0"/>
          <c:cat>
            <c:strRef>
              <c:f>Sheet1!$A$2:$A$13</c:f>
              <c:strCache>
                <c:ptCount val="12"/>
                <c:pt idx="0">
                  <c:v>Strategy</c:v>
                </c:pt>
                <c:pt idx="1">
                  <c:v>Adventure</c:v>
                </c:pt>
                <c:pt idx="2">
                  <c:v>Puzzle</c:v>
                </c:pt>
                <c:pt idx="3">
                  <c:v>Simulation</c:v>
                </c:pt>
                <c:pt idx="4">
                  <c:v>Fighting</c:v>
                </c:pt>
                <c:pt idx="5">
                  <c:v>Racing</c:v>
                </c:pt>
                <c:pt idx="6">
                  <c:v>Misc</c:v>
                </c:pt>
                <c:pt idx="7">
                  <c:v>Platform</c:v>
                </c:pt>
                <c:pt idx="8">
                  <c:v>Role-Playing</c:v>
                </c:pt>
                <c:pt idx="9">
                  <c:v>Shooter</c:v>
                </c:pt>
                <c:pt idx="10">
                  <c:v>Sports</c:v>
                </c:pt>
                <c:pt idx="11">
                  <c:v>Action</c:v>
                </c:pt>
              </c:strCache>
            </c:strRef>
          </c:cat>
          <c:val>
            <c:numRef>
              <c:f>Sheet1!$B$2:$B$13</c:f>
              <c:numCache>
                <c:formatCode>General</c:formatCode>
                <c:ptCount val="12"/>
                <c:pt idx="0">
                  <c:v>175</c:v>
                </c:pt>
                <c:pt idx="1">
                  <c:v>239</c:v>
                </c:pt>
                <c:pt idx="2">
                  <c:v>244</c:v>
                </c:pt>
                <c:pt idx="3">
                  <c:v>392</c:v>
                </c:pt>
                <c:pt idx="4">
                  <c:v>449</c:v>
                </c:pt>
                <c:pt idx="5">
                  <c:v>732</c:v>
                </c:pt>
                <c:pt idx="6">
                  <c:v>809</c:v>
                </c:pt>
                <c:pt idx="7">
                  <c:v>831</c:v>
                </c:pt>
                <c:pt idx="8">
                  <c:v>927</c:v>
                </c:pt>
                <c:pt idx="9">
                  <c:v>1037</c:v>
                </c:pt>
                <c:pt idx="10">
                  <c:v>1331</c:v>
                </c:pt>
                <c:pt idx="11">
                  <c:v>1751</c:v>
                </c:pt>
              </c:numCache>
            </c:numRef>
          </c:val>
          <c:extLst>
            <c:ext xmlns:c16="http://schemas.microsoft.com/office/drawing/2014/chart" uri="{C3380CC4-5D6E-409C-BE32-E72D297353CC}">
              <c16:uniqueId val="{00000000-4B06-4D0E-82D4-F309E87546B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Global Sales (M)</c:v>
                </c:pt>
              </c:strCache>
            </c:strRef>
          </c:tx>
          <c:spPr>
            <a:ln w="38100" cap="flat">
              <a:solidFill>
                <a:srgbClr val="7030A0"/>
              </a:solidFill>
              <a:prstDash val="solid"/>
              <a:round/>
            </a:ln>
            <a:effectLst/>
          </c:spPr>
          <c:marker>
            <c:symbol val="circle"/>
            <c:size val="6"/>
            <c:spPr>
              <a:solidFill>
                <a:srgbClr val="7030A0"/>
              </a:solidFill>
              <a:ln w="9525" cap="flat">
                <a:solidFill>
                  <a:srgbClr val="7030A0"/>
                </a:solidFill>
                <a:prstDash val="solid"/>
                <a:round/>
              </a:ln>
              <a:effectLst/>
            </c:spPr>
          </c:marker>
          <c:cat>
            <c:strRef>
              <c:f>Sheet1!$A$2:$A$22</c:f>
              <c:strCache>
                <c:ptCount val="21"/>
                <c:pt idx="0">
                  <c:v>1980</c:v>
                </c:pt>
                <c:pt idx="1">
                  <c:v>1982</c:v>
                </c:pt>
                <c:pt idx="2">
                  <c:v>1984</c:v>
                </c:pt>
                <c:pt idx="3">
                  <c:v>1986</c:v>
                </c:pt>
                <c:pt idx="4">
                  <c:v>1988</c:v>
                </c:pt>
                <c:pt idx="5">
                  <c:v>1990</c:v>
                </c:pt>
                <c:pt idx="6">
                  <c:v>1992</c:v>
                </c:pt>
                <c:pt idx="7">
                  <c:v>1994</c:v>
                </c:pt>
                <c:pt idx="8">
                  <c:v>1996</c:v>
                </c:pt>
                <c:pt idx="9">
                  <c:v>1998</c:v>
                </c:pt>
                <c:pt idx="10">
                  <c:v>2000</c:v>
                </c:pt>
                <c:pt idx="11">
                  <c:v>2002</c:v>
                </c:pt>
                <c:pt idx="12">
                  <c:v>2004</c:v>
                </c:pt>
                <c:pt idx="13">
                  <c:v>2006</c:v>
                </c:pt>
                <c:pt idx="14">
                  <c:v>2008</c:v>
                </c:pt>
                <c:pt idx="15">
                  <c:v>2010</c:v>
                </c:pt>
                <c:pt idx="16">
                  <c:v>2012</c:v>
                </c:pt>
                <c:pt idx="17">
                  <c:v>2014</c:v>
                </c:pt>
                <c:pt idx="18">
                  <c:v>2016</c:v>
                </c:pt>
                <c:pt idx="19">
                  <c:v>2018</c:v>
                </c:pt>
                <c:pt idx="20">
                  <c:v>2020</c:v>
                </c:pt>
              </c:strCache>
            </c:strRef>
          </c:cat>
          <c:val>
            <c:numRef>
              <c:f>Sheet1!$B$2:$B$22</c:f>
              <c:numCache>
                <c:formatCode>General</c:formatCode>
                <c:ptCount val="21"/>
                <c:pt idx="0">
                  <c:v>11</c:v>
                </c:pt>
                <c:pt idx="1">
                  <c:v>14</c:v>
                </c:pt>
                <c:pt idx="2">
                  <c:v>9</c:v>
                </c:pt>
                <c:pt idx="3">
                  <c:v>6</c:v>
                </c:pt>
                <c:pt idx="4">
                  <c:v>29</c:v>
                </c:pt>
                <c:pt idx="5">
                  <c:v>43</c:v>
                </c:pt>
                <c:pt idx="6">
                  <c:v>49</c:v>
                </c:pt>
                <c:pt idx="7">
                  <c:v>57</c:v>
                </c:pt>
                <c:pt idx="8">
                  <c:v>96</c:v>
                </c:pt>
                <c:pt idx="9">
                  <c:v>143</c:v>
                </c:pt>
                <c:pt idx="10">
                  <c:v>197</c:v>
                </c:pt>
                <c:pt idx="11">
                  <c:v>228</c:v>
                </c:pt>
                <c:pt idx="12">
                  <c:v>349</c:v>
                </c:pt>
                <c:pt idx="13">
                  <c:v>521</c:v>
                </c:pt>
                <c:pt idx="14">
                  <c:v>678</c:v>
                </c:pt>
                <c:pt idx="15">
                  <c:v>612</c:v>
                </c:pt>
                <c:pt idx="16">
                  <c:v>562</c:v>
                </c:pt>
                <c:pt idx="17">
                  <c:v>393</c:v>
                </c:pt>
                <c:pt idx="18">
                  <c:v>196</c:v>
                </c:pt>
                <c:pt idx="19">
                  <c:v>89</c:v>
                </c:pt>
                <c:pt idx="20">
                  <c:v>22</c:v>
                </c:pt>
              </c:numCache>
            </c:numRef>
          </c:val>
          <c:smooth val="1"/>
          <c:extLst>
            <c:ext xmlns:c16="http://schemas.microsoft.com/office/drawing/2014/chart" uri="{C3380CC4-5D6E-409C-BE32-E72D297353CC}">
              <c16:uniqueId val="{00000000-9497-4429-B252-151FC0DE636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1F5F9"/>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chemeClr val="bg1"/>
                </a:solidFill>
                <a:latin typeface="Arial"/>
              </a:defRPr>
            </a:pPr>
            <a:r>
              <a:rPr lang="en-US" sz="1800" b="0" i="0" u="none" strike="noStrike">
                <a:solidFill>
                  <a:schemeClr val="bg1"/>
                </a:solidFill>
                <a:latin typeface="Arial"/>
              </a:rPr>
              <a:t>Spark SQL: Sales by Genre</a:t>
            </a:r>
          </a:p>
        </c:rich>
      </c:tx>
      <c:overlay val="0"/>
    </c:title>
    <c:autoTitleDeleted val="0"/>
    <c:plotArea>
      <c:layout/>
      <c:barChart>
        <c:barDir val="bar"/>
        <c:grouping val="clustered"/>
        <c:varyColors val="0"/>
        <c:ser>
          <c:idx val="0"/>
          <c:order val="0"/>
          <c:tx>
            <c:strRef>
              <c:f>Sheet1!$B$1</c:f>
              <c:strCache>
                <c:ptCount val="1"/>
                <c:pt idx="0">
                  <c:v>Sales (M)</c:v>
                </c:pt>
              </c:strCache>
            </c:strRef>
          </c:tx>
          <c:spPr>
            <a:solidFill>
              <a:srgbClr val="7030A0"/>
            </a:solidFill>
            <a:ln>
              <a:solidFill>
                <a:srgbClr val="7030A0"/>
              </a:solidFill>
            </a:ln>
            <a:effectLst/>
          </c:spPr>
          <c:invertIfNegative val="0"/>
          <c:cat>
            <c:strRef>
              <c:f>Sheet1!$A$2:$A$13</c:f>
              <c:strCache>
                <c:ptCount val="12"/>
                <c:pt idx="0">
                  <c:v>Strategy</c:v>
                </c:pt>
                <c:pt idx="1">
                  <c:v>Puzzle</c:v>
                </c:pt>
                <c:pt idx="2">
                  <c:v>Adventure</c:v>
                </c:pt>
                <c:pt idx="3">
                  <c:v>Simulation</c:v>
                </c:pt>
                <c:pt idx="4">
                  <c:v>Fighting</c:v>
                </c:pt>
                <c:pt idx="5">
                  <c:v>Racing</c:v>
                </c:pt>
                <c:pt idx="6">
                  <c:v>Misc</c:v>
                </c:pt>
                <c:pt idx="7">
                  <c:v>Platform</c:v>
                </c:pt>
                <c:pt idx="8">
                  <c:v>Role-Playing</c:v>
                </c:pt>
                <c:pt idx="9">
                  <c:v>Shooter</c:v>
                </c:pt>
                <c:pt idx="10">
                  <c:v>Sports</c:v>
                </c:pt>
                <c:pt idx="11">
                  <c:v>Action</c:v>
                </c:pt>
              </c:strCache>
            </c:strRef>
          </c:cat>
          <c:val>
            <c:numRef>
              <c:f>Sheet1!$B$2:$B$13</c:f>
              <c:numCache>
                <c:formatCode>General</c:formatCode>
                <c:ptCount val="12"/>
                <c:pt idx="0">
                  <c:v>175</c:v>
                </c:pt>
                <c:pt idx="1">
                  <c:v>244</c:v>
                </c:pt>
                <c:pt idx="2">
                  <c:v>239</c:v>
                </c:pt>
                <c:pt idx="3">
                  <c:v>392</c:v>
                </c:pt>
                <c:pt idx="4">
                  <c:v>449</c:v>
                </c:pt>
                <c:pt idx="5">
                  <c:v>732</c:v>
                </c:pt>
                <c:pt idx="6">
                  <c:v>809</c:v>
                </c:pt>
                <c:pt idx="7">
                  <c:v>831</c:v>
                </c:pt>
                <c:pt idx="8">
                  <c:v>927</c:v>
                </c:pt>
                <c:pt idx="9">
                  <c:v>1037</c:v>
                </c:pt>
                <c:pt idx="10">
                  <c:v>1331</c:v>
                </c:pt>
                <c:pt idx="11">
                  <c:v>1751</c:v>
                </c:pt>
              </c:numCache>
            </c:numRef>
          </c:val>
          <c:extLst>
            <c:ext xmlns:c16="http://schemas.microsoft.com/office/drawing/2014/chart" uri="{C3380CC4-5D6E-409C-BE32-E72D297353CC}">
              <c16:uniqueId val="{00000000-96E8-4D99-AC09-9E78130C2D1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bg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29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bg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B2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chemeClr val="bg1"/>
                </a:solidFill>
                <a:latin typeface="Arial"/>
              </a:defRPr>
            </a:pPr>
            <a:r>
              <a:rPr lang="en-US" sz="1800" b="0" i="0" u="none" strike="noStrike">
                <a:solidFill>
                  <a:schemeClr val="bg1"/>
                </a:solidFill>
                <a:latin typeface="Arial"/>
              </a:rPr>
              <a:t>Spark SQL: Sales by Platform</a:t>
            </a:r>
          </a:p>
        </c:rich>
      </c:tx>
      <c:overlay val="0"/>
    </c:title>
    <c:autoTitleDeleted val="0"/>
    <c:plotArea>
      <c:layout/>
      <c:barChart>
        <c:barDir val="bar"/>
        <c:grouping val="clustered"/>
        <c:varyColors val="0"/>
        <c:ser>
          <c:idx val="0"/>
          <c:order val="0"/>
          <c:tx>
            <c:strRef>
              <c:f>Sheet1!$B$1</c:f>
              <c:strCache>
                <c:ptCount val="1"/>
                <c:pt idx="0">
                  <c:v>Sales (M)</c:v>
                </c:pt>
              </c:strCache>
            </c:strRef>
          </c:tx>
          <c:spPr>
            <a:solidFill>
              <a:srgbClr val="7030A0"/>
            </a:solidFill>
            <a:ln>
              <a:solidFill>
                <a:srgbClr val="7030A0"/>
              </a:solidFill>
            </a:ln>
            <a:effectLst/>
          </c:spPr>
          <c:invertIfNegative val="0"/>
          <c:cat>
            <c:strRef>
              <c:f>Sheet1!$A$2:$A$24</c:f>
              <c:strCache>
                <c:ptCount val="23"/>
                <c:pt idx="0">
                  <c:v>3DO</c:v>
                </c:pt>
                <c:pt idx="1">
                  <c:v>PCFX</c:v>
                </c:pt>
                <c:pt idx="2">
                  <c:v>GG</c:v>
                </c:pt>
                <c:pt idx="3">
                  <c:v>WS</c:v>
                </c:pt>
                <c:pt idx="4">
                  <c:v>NG</c:v>
                </c:pt>
                <c:pt idx="5">
                  <c:v>TG16</c:v>
                </c:pt>
                <c:pt idx="6">
                  <c:v>2600</c:v>
                </c:pt>
                <c:pt idx="7">
                  <c:v>GB</c:v>
                </c:pt>
                <c:pt idx="8">
                  <c:v>NES</c:v>
                </c:pt>
                <c:pt idx="9">
                  <c:v>PC</c:v>
                </c:pt>
                <c:pt idx="10">
                  <c:v>XB</c:v>
                </c:pt>
                <c:pt idx="11">
                  <c:v>GBA</c:v>
                </c:pt>
                <c:pt idx="12">
                  <c:v>PS4</c:v>
                </c:pt>
                <c:pt idx="13">
                  <c:v>PSP</c:v>
                </c:pt>
                <c:pt idx="14">
                  <c:v>GC</c:v>
                </c:pt>
                <c:pt idx="15">
                  <c:v>Wii</c:v>
                </c:pt>
                <c:pt idx="16">
                  <c:v>DS</c:v>
                </c:pt>
                <c:pt idx="17">
                  <c:v>PS</c:v>
                </c:pt>
                <c:pt idx="18">
                  <c:v>N64</c:v>
                </c:pt>
                <c:pt idx="19">
                  <c:v>SNES</c:v>
                </c:pt>
                <c:pt idx="20">
                  <c:v>PS3</c:v>
                </c:pt>
                <c:pt idx="21">
                  <c:v>X360</c:v>
                </c:pt>
                <c:pt idx="22">
                  <c:v>PS2</c:v>
                </c:pt>
              </c:strCache>
            </c:strRef>
          </c:cat>
          <c:val>
            <c:numRef>
              <c:f>Sheet1!$B$2:$B$24</c:f>
              <c:numCache>
                <c:formatCode>General</c:formatCode>
                <c:ptCount val="23"/>
                <c:pt idx="0">
                  <c:v>3</c:v>
                </c:pt>
                <c:pt idx="1">
                  <c:v>1</c:v>
                </c:pt>
                <c:pt idx="2">
                  <c:v>5</c:v>
                </c:pt>
                <c:pt idx="3">
                  <c:v>6</c:v>
                </c:pt>
                <c:pt idx="4">
                  <c:v>12</c:v>
                </c:pt>
                <c:pt idx="5">
                  <c:v>16</c:v>
                </c:pt>
                <c:pt idx="6">
                  <c:v>97</c:v>
                </c:pt>
                <c:pt idx="7">
                  <c:v>255</c:v>
                </c:pt>
                <c:pt idx="8">
                  <c:v>251</c:v>
                </c:pt>
                <c:pt idx="9">
                  <c:v>259</c:v>
                </c:pt>
                <c:pt idx="10">
                  <c:v>261</c:v>
                </c:pt>
                <c:pt idx="11">
                  <c:v>318</c:v>
                </c:pt>
                <c:pt idx="12">
                  <c:v>315</c:v>
                </c:pt>
                <c:pt idx="13">
                  <c:v>317</c:v>
                </c:pt>
                <c:pt idx="14">
                  <c:v>199</c:v>
                </c:pt>
                <c:pt idx="15">
                  <c:v>926</c:v>
                </c:pt>
                <c:pt idx="16">
                  <c:v>806</c:v>
                </c:pt>
                <c:pt idx="17">
                  <c:v>730</c:v>
                </c:pt>
                <c:pt idx="18">
                  <c:v>389</c:v>
                </c:pt>
                <c:pt idx="19">
                  <c:v>379</c:v>
                </c:pt>
                <c:pt idx="20">
                  <c:v>957</c:v>
                </c:pt>
                <c:pt idx="21">
                  <c:v>1255</c:v>
                </c:pt>
                <c:pt idx="22">
                  <c:v>1255</c:v>
                </c:pt>
              </c:numCache>
            </c:numRef>
          </c:val>
          <c:extLst>
            <c:ext xmlns:c16="http://schemas.microsoft.com/office/drawing/2014/chart" uri="{C3380CC4-5D6E-409C-BE32-E72D297353CC}">
              <c16:uniqueId val="{00000000-9B7E-4B3D-9A02-C0CA001968B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bg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29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bg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B2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Feature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7030A0"/>
            </a:solidFill>
            <a:ln>
              <a:solidFill>
                <a:srgbClr val="7030A0"/>
              </a:solidFill>
            </a:ln>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Year</c:v>
                </c:pt>
                <c:pt idx="1">
                  <c:v>Genre_Encoded</c:v>
                </c:pt>
                <c:pt idx="2">
                  <c:v>Platform_Encoded</c:v>
                </c:pt>
                <c:pt idx="3">
                  <c:v>JP_Sales</c:v>
                </c:pt>
                <c:pt idx="4">
                  <c:v>Other_Sales</c:v>
                </c:pt>
                <c:pt idx="5">
                  <c:v>EU_Sales</c:v>
                </c:pt>
                <c:pt idx="6">
                  <c:v>NA_Sales</c:v>
                </c:pt>
              </c:strCache>
            </c:strRef>
          </c:cat>
          <c:val>
            <c:numRef>
              <c:f>Sheet1!$B$2:$B$8</c:f>
              <c:numCache>
                <c:formatCode>General</c:formatCode>
                <c:ptCount val="7"/>
                <c:pt idx="0">
                  <c:v>2</c:v>
                </c:pt>
                <c:pt idx="1">
                  <c:v>3</c:v>
                </c:pt>
                <c:pt idx="2">
                  <c:v>4</c:v>
                </c:pt>
                <c:pt idx="3">
                  <c:v>5</c:v>
                </c:pt>
                <c:pt idx="4">
                  <c:v>7</c:v>
                </c:pt>
                <c:pt idx="5">
                  <c:v>12</c:v>
                </c:pt>
                <c:pt idx="6">
                  <c:v>67</c:v>
                </c:pt>
              </c:numCache>
            </c:numRef>
          </c:val>
          <c:extLst>
            <c:ext xmlns:c16="http://schemas.microsoft.com/office/drawing/2014/chart" uri="{C3380CC4-5D6E-409C-BE32-E72D297353CC}">
              <c16:uniqueId val="{00000000-8EEA-4184-8656-008F50DA3BD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109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called Video Game Sales Analysis. The goal was to build a full Big Data pipeline to </a:t>
            </a:r>
            <a:r>
              <a:rPr lang="en-US" dirty="0" err="1"/>
              <a:t>analyse</a:t>
            </a:r>
            <a:r>
              <a:rPr lang="en-US" dirty="0"/>
              <a:t> and predict global video game sales using a dataset of 16,598 games from Kaggle, spanning 1980 to 2020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question I wanted to answer was: can we predict a game's global sales based on its genre, platform, and regional performance? This matters for any game publisher trying to decide where to invest. I used a full pipeline cleaning with Pandas, exploration with EDA, large-scale processing with </a:t>
            </a:r>
            <a:r>
              <a:rPr lang="en-US" dirty="0" err="1"/>
              <a:t>PySpark</a:t>
            </a:r>
            <a:r>
              <a:rPr lang="en-US" dirty="0"/>
              <a:t>, and a Random Forest model for prediction.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data flows through the system. I start by ingesting the raw CSV from Kaggle. Then I preprocess it </a:t>
            </a:r>
            <a:r>
              <a:rPr lang="en-US"/>
              <a:t>with Pandas, </a:t>
            </a:r>
            <a:r>
              <a:rPr lang="en-US" dirty="0"/>
              <a:t>fixing missing values, removing duplicates, and engineering new features. Then EDA to find patterns. Then </a:t>
            </a:r>
            <a:r>
              <a:rPr lang="en-US" dirty="0" err="1"/>
              <a:t>PySpark</a:t>
            </a:r>
            <a:r>
              <a:rPr lang="en-US" dirty="0"/>
              <a:t> for large-scale aggregations. And finally the predictive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EDA revealed some clear patterns. Action games are the dominant genre with over 1,750 million units sold globally. PS2 is the best selling platform of all time. Sales peaked around 2008-2009. And Wii Sports is the single best selling game in the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interesting findings. Sales grew steadily from 1980, peaked sharply in 2008-2009, and then declined significantly. As a publisher, this tells us the traditional console gaming market has shrunk. The rise of mobile gaming and free-to-play models changed consumer </a:t>
            </a:r>
            <a:r>
              <a:rPr lang="en-US" dirty="0" err="1"/>
              <a:t>behaviour</a:t>
            </a:r>
            <a:r>
              <a:rPr lang="en-US" dirty="0"/>
              <a:t> permanently. Any publisher ignoring mobile and digital distribution is losing market share.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t>
            </a:r>
            <a:r>
              <a:rPr lang="en-US" dirty="0" err="1"/>
              <a:t>PySpark</a:t>
            </a:r>
            <a:r>
              <a:rPr lang="en-US" dirty="0"/>
              <a:t> to process the full dataset at scale using Spark SQL queries. These two charts show the aggregated results confirming the same trends we saw in EDA but processed through a distributed computing framework, which would scale to millions of records in a real production environment.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analytics stage I built a Random Forest Regressor to predict Global Sales. The most important finding here is the feature importance chart NA Sales alone accounts for 67% of the model's predictive power. This means North America is by far the most critical market. If a game sells well in North America, it will almost certainly sell well globally."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these results actually mean for a game publisher? Four key recommendations. First, invest in Action and Sports genres since they dominate sales. Second, </a:t>
            </a:r>
            <a:r>
              <a:rPr lang="en-US" dirty="0" err="1"/>
              <a:t>prioritise</a:t>
            </a:r>
            <a:r>
              <a:rPr lang="en-US" dirty="0"/>
              <a:t> North America in your marketing budget since it drives global success. Third , platform choice matters enormously, launch on high install-base platforms. And fourth, the market has shifted. Publishers who don't adapt to mobile and digital will continue to lose revenue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t>
            </a:r>
            <a:r>
              <a:rPr lang="en-US" dirty="0" err="1"/>
              <a:t>summarise</a:t>
            </a:r>
            <a:r>
              <a:rPr lang="en-US" dirty="0"/>
              <a:t>. I built a complete Big Data pipeline covering preprocessing, EDA, </a:t>
            </a:r>
            <a:r>
              <a:rPr lang="en-US" dirty="0" err="1"/>
              <a:t>PySpark</a:t>
            </a:r>
            <a:r>
              <a:rPr lang="en-US" dirty="0"/>
              <a:t> processing, predictive modelling, and a Power BI dashboard. The key takeaway is that NA Sales is the strongest predictor of global success, Action is the dominant genre, and the industry peaked in 2008-2009.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411480" y="1280160"/>
            <a:ext cx="7772400" cy="100584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Video Game Sales Analysis</a:t>
            </a:r>
            <a:endParaRPr lang="en-US" sz="4000" dirty="0"/>
          </a:p>
        </p:txBody>
      </p:sp>
      <p:sp>
        <p:nvSpPr>
          <p:cNvPr id="4" name="Text 2"/>
          <p:cNvSpPr/>
          <p:nvPr/>
        </p:nvSpPr>
        <p:spPr>
          <a:xfrm>
            <a:off x="411480" y="2423160"/>
            <a:ext cx="7772400" cy="457200"/>
          </a:xfrm>
          <a:prstGeom prst="rect">
            <a:avLst/>
          </a:prstGeom>
          <a:noFill/>
          <a:ln/>
        </p:spPr>
        <p:txBody>
          <a:bodyPr wrap="square" lIns="0" tIns="0" rIns="0" bIns="0" rtlCol="0" anchor="ctr"/>
          <a:lstStyle/>
          <a:p>
            <a:pPr marL="0" indent="0" algn="l">
              <a:buNone/>
            </a:pPr>
            <a:r>
              <a:rPr lang="en-US" sz="1800" dirty="0">
                <a:solidFill>
                  <a:srgbClr val="7030A0"/>
                </a:solidFill>
                <a:latin typeface="Calibri" pitchFamily="34" charset="0"/>
                <a:ea typeface="Calibri" pitchFamily="34" charset="-122"/>
                <a:cs typeface="Calibri" pitchFamily="34" charset="-120"/>
              </a:rPr>
              <a:t>Predicting Global Sales · Big Data Fundamentals Project</a:t>
            </a:r>
            <a:endParaRPr lang="en-US" sz="1800" dirty="0">
              <a:solidFill>
                <a:srgbClr val="7030A0"/>
              </a:solidFill>
            </a:endParaRPr>
          </a:p>
        </p:txBody>
      </p:sp>
      <p:sp>
        <p:nvSpPr>
          <p:cNvPr id="5" name="Shape 3"/>
          <p:cNvSpPr/>
          <p:nvPr/>
        </p:nvSpPr>
        <p:spPr>
          <a:xfrm>
            <a:off x="411480" y="3017520"/>
            <a:ext cx="4114800" cy="36576"/>
          </a:xfrm>
          <a:prstGeom prst="rect">
            <a:avLst/>
          </a:prstGeom>
          <a:solidFill>
            <a:srgbClr val="64748B"/>
          </a:solidFill>
          <a:ln w="12700">
            <a:solidFill>
              <a:srgbClr val="64748B"/>
            </a:solidFill>
            <a:prstDash val="solid"/>
          </a:ln>
        </p:spPr>
        <p:txBody>
          <a:bodyPr/>
          <a:lstStyle/>
          <a:p>
            <a:endParaRPr lang="en-US"/>
          </a:p>
        </p:txBody>
      </p:sp>
      <p:sp>
        <p:nvSpPr>
          <p:cNvPr id="6" name="Text 4"/>
          <p:cNvSpPr/>
          <p:nvPr/>
        </p:nvSpPr>
        <p:spPr>
          <a:xfrm>
            <a:off x="411480" y="3200400"/>
            <a:ext cx="6400800" cy="822960"/>
          </a:xfrm>
          <a:prstGeom prst="rect">
            <a:avLst/>
          </a:prstGeom>
          <a:noFill/>
          <a:ln/>
        </p:spPr>
        <p:txBody>
          <a:bodyPr wrap="square" lIns="0" tIns="0" rIns="0" bIns="0" rtlCol="0" anchor="ctr"/>
          <a:lstStyle/>
          <a:p>
            <a:pPr marL="0" indent="0" algn="l">
              <a:buNone/>
            </a:pPr>
            <a:r>
              <a:rPr lang="en-US" sz="1400" b="1" dirty="0">
                <a:solidFill>
                  <a:srgbClr val="64748B"/>
                </a:solidFill>
                <a:latin typeface="Calibri" pitchFamily="34" charset="0"/>
                <a:ea typeface="Calibri" pitchFamily="34" charset="-122"/>
                <a:cs typeface="Calibri" pitchFamily="34" charset="-120"/>
              </a:rPr>
              <a:t>Serban Iulia Maria</a:t>
            </a:r>
            <a:endParaRPr lang="en-US" sz="1400" dirty="0"/>
          </a:p>
          <a:p>
            <a:pPr marL="0" indent="0" algn="l">
              <a:buNone/>
            </a:pPr>
            <a:r>
              <a:rPr lang="en-US" sz="1400" dirty="0">
                <a:solidFill>
                  <a:srgbClr val="64748B"/>
                </a:solidFill>
                <a:latin typeface="Calibri" pitchFamily="34" charset="0"/>
                <a:ea typeface="Calibri" pitchFamily="34" charset="-122"/>
                <a:cs typeface="Calibri" pitchFamily="34" charset="-120"/>
              </a:rPr>
              <a:t>Big Data Fundamentals  ·  2026</a:t>
            </a:r>
            <a:endParaRPr lang="en-US" sz="1400" dirty="0"/>
          </a:p>
        </p:txBody>
      </p:sp>
      <p:sp>
        <p:nvSpPr>
          <p:cNvPr id="7" name="Shape 5"/>
          <p:cNvSpPr/>
          <p:nvPr/>
        </p:nvSpPr>
        <p:spPr>
          <a:xfrm>
            <a:off x="411480" y="4160520"/>
            <a:ext cx="2926080" cy="548640"/>
          </a:xfrm>
          <a:prstGeom prst="roundRect">
            <a:avLst>
              <a:gd name="adj" fmla="val 13333"/>
            </a:avLst>
          </a:prstGeom>
          <a:solidFill>
            <a:srgbClr val="7030A0"/>
          </a:solidFill>
          <a:ln w="12700">
            <a:solidFill>
              <a:srgbClr val="7030A0"/>
            </a:solidFill>
            <a:prstDash val="solid"/>
          </a:ln>
        </p:spPr>
        <p:txBody>
          <a:bodyPr/>
          <a:lstStyle/>
          <a:p>
            <a:endParaRPr lang="en-US"/>
          </a:p>
        </p:txBody>
      </p:sp>
      <p:sp>
        <p:nvSpPr>
          <p:cNvPr id="8" name="Text 6"/>
          <p:cNvSpPr/>
          <p:nvPr/>
        </p:nvSpPr>
        <p:spPr>
          <a:xfrm>
            <a:off x="411480" y="4160520"/>
            <a:ext cx="29260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 Kaggle · 16,598 Games · 1980–2020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Project Overview</a:t>
            </a:r>
            <a:endParaRPr lang="en-US" sz="3200" dirty="0"/>
          </a:p>
        </p:txBody>
      </p:sp>
      <p:sp>
        <p:nvSpPr>
          <p:cNvPr id="3" name="Shape 1"/>
          <p:cNvSpPr/>
          <p:nvPr/>
        </p:nvSpPr>
        <p:spPr>
          <a:xfrm>
            <a:off x="457200" y="1097280"/>
            <a:ext cx="1965960" cy="32918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4" name="Shape 2"/>
          <p:cNvSpPr/>
          <p:nvPr/>
        </p:nvSpPr>
        <p:spPr>
          <a:xfrm>
            <a:off x="457200" y="1097280"/>
            <a:ext cx="1965960" cy="73152"/>
          </a:xfrm>
          <a:prstGeom prst="rect">
            <a:avLst/>
          </a:prstGeom>
          <a:solidFill>
            <a:srgbClr val="7030A0"/>
          </a:solidFill>
          <a:ln w="12700">
            <a:solidFill>
              <a:srgbClr val="7030A0"/>
            </a:solidFill>
            <a:prstDash val="solid"/>
          </a:ln>
        </p:spPr>
        <p:txBody>
          <a:bodyPr/>
          <a:lstStyle/>
          <a:p>
            <a:endParaRPr lang="en-US">
              <a:solidFill>
                <a:srgbClr val="7030A0"/>
              </a:solidFill>
            </a:endParaRPr>
          </a:p>
        </p:txBody>
      </p:sp>
      <p:sp>
        <p:nvSpPr>
          <p:cNvPr id="5" name="Text 3"/>
          <p:cNvSpPr/>
          <p:nvPr/>
        </p:nvSpPr>
        <p:spPr>
          <a:xfrm>
            <a:off x="594360" y="1234440"/>
            <a:ext cx="1828800" cy="41148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Business Question</a:t>
            </a:r>
            <a:endParaRPr lang="en-US" sz="1200" dirty="0">
              <a:solidFill>
                <a:srgbClr val="7030A0"/>
              </a:solidFill>
            </a:endParaRPr>
          </a:p>
        </p:txBody>
      </p:sp>
      <p:sp>
        <p:nvSpPr>
          <p:cNvPr id="6" name="Text 4"/>
          <p:cNvSpPr/>
          <p:nvPr/>
        </p:nvSpPr>
        <p:spPr>
          <a:xfrm>
            <a:off x="525780" y="1737360"/>
            <a:ext cx="1828800" cy="2468880"/>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Can we predict a game's global sales based on its genre, platform, and regional performance?</a:t>
            </a:r>
            <a:endParaRPr lang="en-US" sz="1100" dirty="0"/>
          </a:p>
        </p:txBody>
      </p:sp>
      <p:sp>
        <p:nvSpPr>
          <p:cNvPr id="7" name="Shape 5"/>
          <p:cNvSpPr/>
          <p:nvPr/>
        </p:nvSpPr>
        <p:spPr>
          <a:xfrm>
            <a:off x="2560320" y="1097280"/>
            <a:ext cx="1965960" cy="32918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8" name="Shape 6"/>
          <p:cNvSpPr/>
          <p:nvPr/>
        </p:nvSpPr>
        <p:spPr>
          <a:xfrm>
            <a:off x="2560320" y="1097280"/>
            <a:ext cx="1965960" cy="73152"/>
          </a:xfrm>
          <a:prstGeom prst="rect">
            <a:avLst/>
          </a:prstGeom>
          <a:solidFill>
            <a:srgbClr val="7030A0"/>
          </a:solidFill>
          <a:ln w="12700">
            <a:solidFill>
              <a:srgbClr val="7030A0"/>
            </a:solidFill>
            <a:prstDash val="solid"/>
          </a:ln>
        </p:spPr>
        <p:txBody>
          <a:bodyPr/>
          <a:lstStyle/>
          <a:p>
            <a:endParaRPr lang="en-US"/>
          </a:p>
        </p:txBody>
      </p:sp>
      <p:sp>
        <p:nvSpPr>
          <p:cNvPr id="9" name="Text 7"/>
          <p:cNvSpPr/>
          <p:nvPr/>
        </p:nvSpPr>
        <p:spPr>
          <a:xfrm>
            <a:off x="2880360" y="1234440"/>
            <a:ext cx="1828800" cy="41148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Dataset</a:t>
            </a:r>
            <a:endParaRPr lang="en-US" sz="1200" dirty="0">
              <a:solidFill>
                <a:srgbClr val="7030A0"/>
              </a:solidFill>
            </a:endParaRPr>
          </a:p>
        </p:txBody>
      </p:sp>
      <p:sp>
        <p:nvSpPr>
          <p:cNvPr id="10" name="Text 8"/>
          <p:cNvSpPr/>
          <p:nvPr/>
        </p:nvSpPr>
        <p:spPr>
          <a:xfrm>
            <a:off x="2628900" y="1658983"/>
            <a:ext cx="1828800" cy="2468880"/>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16,598 video games across 31 platforms, 12 genres, from 1980 to 2020 — sourced from Kaggle.</a:t>
            </a:r>
            <a:endParaRPr lang="en-US" sz="1100" dirty="0"/>
          </a:p>
        </p:txBody>
      </p:sp>
      <p:sp>
        <p:nvSpPr>
          <p:cNvPr id="11" name="Shape 9"/>
          <p:cNvSpPr/>
          <p:nvPr/>
        </p:nvSpPr>
        <p:spPr>
          <a:xfrm>
            <a:off x="4709160" y="1097280"/>
            <a:ext cx="1965960" cy="32918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2" name="Shape 10"/>
          <p:cNvSpPr/>
          <p:nvPr/>
        </p:nvSpPr>
        <p:spPr>
          <a:xfrm>
            <a:off x="4709160" y="1106424"/>
            <a:ext cx="1965960" cy="73152"/>
          </a:xfrm>
          <a:prstGeom prst="rect">
            <a:avLst/>
          </a:prstGeom>
          <a:solidFill>
            <a:srgbClr val="7030A0"/>
          </a:solidFill>
          <a:ln w="12700">
            <a:solidFill>
              <a:srgbClr val="7030A0"/>
            </a:solidFill>
            <a:prstDash val="solid"/>
          </a:ln>
        </p:spPr>
        <p:txBody>
          <a:bodyPr/>
          <a:lstStyle/>
          <a:p>
            <a:endParaRPr lang="en-US"/>
          </a:p>
        </p:txBody>
      </p:sp>
      <p:sp>
        <p:nvSpPr>
          <p:cNvPr id="13" name="Text 11"/>
          <p:cNvSpPr/>
          <p:nvPr/>
        </p:nvSpPr>
        <p:spPr>
          <a:xfrm>
            <a:off x="5166360" y="1234440"/>
            <a:ext cx="1828800" cy="41148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Approach</a:t>
            </a:r>
            <a:endParaRPr lang="en-US" sz="1200" dirty="0">
              <a:solidFill>
                <a:srgbClr val="7030A0"/>
              </a:solidFill>
            </a:endParaRPr>
          </a:p>
        </p:txBody>
      </p:sp>
      <p:sp>
        <p:nvSpPr>
          <p:cNvPr id="14" name="Text 12"/>
          <p:cNvSpPr/>
          <p:nvPr/>
        </p:nvSpPr>
        <p:spPr>
          <a:xfrm>
            <a:off x="4777740" y="1645920"/>
            <a:ext cx="1828800" cy="2468880"/>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Full Big Data pipeline: clean → explore → process (PySpark) → predict (Random Forest).</a:t>
            </a:r>
            <a:endParaRPr lang="en-US" sz="1100" dirty="0"/>
          </a:p>
        </p:txBody>
      </p:sp>
      <p:sp>
        <p:nvSpPr>
          <p:cNvPr id="15" name="Shape 13"/>
          <p:cNvSpPr/>
          <p:nvPr/>
        </p:nvSpPr>
        <p:spPr>
          <a:xfrm>
            <a:off x="6858000" y="1127325"/>
            <a:ext cx="1828800" cy="32918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6858000" y="1106424"/>
            <a:ext cx="1828800" cy="73152"/>
          </a:xfrm>
          <a:prstGeom prst="rect">
            <a:avLst/>
          </a:prstGeom>
          <a:solidFill>
            <a:srgbClr val="7030A0"/>
          </a:solidFill>
          <a:ln w="12700">
            <a:solidFill>
              <a:srgbClr val="7030A0"/>
            </a:solidFill>
            <a:prstDash val="solid"/>
          </a:ln>
        </p:spPr>
        <p:txBody>
          <a:bodyPr/>
          <a:lstStyle/>
          <a:p>
            <a:endParaRPr lang="en-US"/>
          </a:p>
        </p:txBody>
      </p:sp>
      <p:sp>
        <p:nvSpPr>
          <p:cNvPr id="17" name="Text 15"/>
          <p:cNvSpPr/>
          <p:nvPr/>
        </p:nvSpPr>
        <p:spPr>
          <a:xfrm>
            <a:off x="7452360" y="1234440"/>
            <a:ext cx="1828800" cy="41148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Outcome</a:t>
            </a:r>
            <a:endParaRPr lang="en-US" sz="1200" dirty="0">
              <a:solidFill>
                <a:srgbClr val="7030A0"/>
              </a:solidFill>
            </a:endParaRPr>
          </a:p>
        </p:txBody>
      </p:sp>
      <p:sp>
        <p:nvSpPr>
          <p:cNvPr id="18" name="Text 16"/>
          <p:cNvSpPr/>
          <p:nvPr/>
        </p:nvSpPr>
        <p:spPr>
          <a:xfrm>
            <a:off x="7040880" y="1645920"/>
            <a:ext cx="1691640" cy="2468880"/>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A Random Forest model predicts Global Sales, </a:t>
            </a:r>
          </a:p>
          <a:p>
            <a:pPr marL="0" indent="0" algn="l">
              <a:buNone/>
            </a:pPr>
            <a:r>
              <a:rPr lang="en-US" sz="1100" dirty="0">
                <a:solidFill>
                  <a:srgbClr val="1E293B"/>
                </a:solidFill>
                <a:latin typeface="Calibri" pitchFamily="34" charset="0"/>
                <a:ea typeface="Calibri" pitchFamily="34" charset="-122"/>
                <a:cs typeface="Calibri" pitchFamily="34" charset="-120"/>
              </a:rPr>
              <a:t>with NA Sales as the strongest driver.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Data Pipeline</a:t>
            </a:r>
            <a:endParaRPr lang="en-US" sz="3200" dirty="0"/>
          </a:p>
        </p:txBody>
      </p:sp>
      <p:sp>
        <p:nvSpPr>
          <p:cNvPr id="3" name="Shape 1"/>
          <p:cNvSpPr/>
          <p:nvPr/>
        </p:nvSpPr>
        <p:spPr>
          <a:xfrm>
            <a:off x="228600" y="1005840"/>
            <a:ext cx="1554480" cy="3291840"/>
          </a:xfrm>
          <a:prstGeom prst="rect">
            <a:avLst/>
          </a:prstGeom>
          <a:solidFill>
            <a:srgbClr val="0D1B2A"/>
          </a:solidFill>
          <a:ln w="12700">
            <a:solidFill>
              <a:srgbClr val="0D1B2A"/>
            </a:solidFill>
            <a:prstDash val="solid"/>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320040" y="1097280"/>
            <a:ext cx="1371600" cy="502920"/>
          </a:xfrm>
          <a:prstGeom prst="rect">
            <a:avLst/>
          </a:prstGeom>
          <a:noFill/>
          <a:ln/>
        </p:spPr>
        <p:txBody>
          <a:bodyPr wrap="square" lIns="0" tIns="0" rIns="0" bIns="0" rtlCol="0" anchor="ctr"/>
          <a:lstStyle/>
          <a:p>
            <a:pPr marL="0" indent="0">
              <a:buNone/>
            </a:pPr>
            <a:r>
              <a:rPr lang="en-US" sz="2800" b="1" dirty="0">
                <a:solidFill>
                  <a:srgbClr val="7030A0"/>
                </a:solidFill>
                <a:latin typeface="Calibri" pitchFamily="34" charset="0"/>
                <a:ea typeface="Calibri" pitchFamily="34" charset="-122"/>
                <a:cs typeface="Calibri" pitchFamily="34" charset="-120"/>
              </a:rPr>
              <a:t>01</a:t>
            </a:r>
            <a:endParaRPr lang="en-US" sz="2800" dirty="0">
              <a:solidFill>
                <a:srgbClr val="7030A0"/>
              </a:solidFill>
            </a:endParaRPr>
          </a:p>
        </p:txBody>
      </p:sp>
      <p:sp>
        <p:nvSpPr>
          <p:cNvPr id="5" name="Text 3"/>
          <p:cNvSpPr/>
          <p:nvPr/>
        </p:nvSpPr>
        <p:spPr>
          <a:xfrm>
            <a:off x="320040" y="1691640"/>
            <a:ext cx="1371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Ingest</a:t>
            </a:r>
            <a:endParaRPr lang="en-US" sz="1300" dirty="0"/>
          </a:p>
        </p:txBody>
      </p:sp>
      <p:sp>
        <p:nvSpPr>
          <p:cNvPr id="6" name="Text 4"/>
          <p:cNvSpPr/>
          <p:nvPr/>
        </p:nvSpPr>
        <p:spPr>
          <a:xfrm>
            <a:off x="320040" y="2194560"/>
            <a:ext cx="1371600" cy="1920240"/>
          </a:xfrm>
          <a:prstGeom prst="rect">
            <a:avLst/>
          </a:prstGeom>
          <a:noFill/>
          <a:ln/>
        </p:spPr>
        <p:txBody>
          <a:bodyPr wrap="square" lIns="0" tIns="0" rIns="0" bIns="0" rtlCol="0" anchor="ctr"/>
          <a:lstStyle/>
          <a:p>
            <a:pPr marL="0" indent="0">
              <a:buNone/>
            </a:pPr>
            <a:r>
              <a:rPr lang="en-US" sz="1100" dirty="0">
                <a:solidFill>
                  <a:srgbClr val="7030A0"/>
                </a:solidFill>
                <a:latin typeface="Calibri" pitchFamily="34" charset="0"/>
                <a:ea typeface="Calibri" pitchFamily="34" charset="-122"/>
                <a:cs typeface="Calibri" pitchFamily="34" charset="-120"/>
              </a:rPr>
              <a:t>CSV from Kaggle</a:t>
            </a:r>
            <a:endParaRPr lang="en-US" sz="1100" dirty="0">
              <a:solidFill>
                <a:srgbClr val="7030A0"/>
              </a:solidFill>
            </a:endParaRPr>
          </a:p>
          <a:p>
            <a:pPr marL="0" indent="0">
              <a:buNone/>
            </a:pPr>
            <a:r>
              <a:rPr lang="en-US" sz="1100" dirty="0">
                <a:solidFill>
                  <a:srgbClr val="7030A0"/>
                </a:solidFill>
                <a:latin typeface="Calibri" pitchFamily="34" charset="0"/>
                <a:ea typeface="Calibri" pitchFamily="34" charset="-122"/>
                <a:cs typeface="Calibri" pitchFamily="34" charset="-120"/>
              </a:rPr>
              <a:t>16,598 game records</a:t>
            </a:r>
            <a:endParaRPr lang="en-US" sz="1100" dirty="0">
              <a:solidFill>
                <a:srgbClr val="7030A0"/>
              </a:solidFill>
            </a:endParaRPr>
          </a:p>
        </p:txBody>
      </p:sp>
      <p:sp>
        <p:nvSpPr>
          <p:cNvPr id="7" name="Shape 5"/>
          <p:cNvSpPr/>
          <p:nvPr/>
        </p:nvSpPr>
        <p:spPr>
          <a:xfrm>
            <a:off x="1828800" y="2560320"/>
            <a:ext cx="164592" cy="54864"/>
          </a:xfrm>
          <a:prstGeom prst="rect">
            <a:avLst/>
          </a:prstGeom>
          <a:solidFill>
            <a:srgbClr val="64748B"/>
          </a:solidFill>
          <a:ln w="12700">
            <a:solidFill>
              <a:srgbClr val="64748B"/>
            </a:solidFill>
            <a:prstDash val="solid"/>
          </a:ln>
        </p:spPr>
        <p:txBody>
          <a:bodyPr/>
          <a:lstStyle/>
          <a:p>
            <a:endParaRPr lang="en-US"/>
          </a:p>
        </p:txBody>
      </p:sp>
      <p:sp>
        <p:nvSpPr>
          <p:cNvPr id="8" name="Shape 6"/>
          <p:cNvSpPr/>
          <p:nvPr/>
        </p:nvSpPr>
        <p:spPr>
          <a:xfrm>
            <a:off x="2039112" y="1005840"/>
            <a:ext cx="1554480" cy="3291840"/>
          </a:xfrm>
          <a:prstGeom prst="rect">
            <a:avLst/>
          </a:prstGeom>
          <a:solidFill>
            <a:srgbClr val="7030A0"/>
          </a:solidFill>
          <a:ln w="12700">
            <a:solidFill>
              <a:srgbClr val="7030A0"/>
            </a:solidFill>
            <a:prstDash val="solid"/>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2130552" y="1097280"/>
            <a:ext cx="1371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0" name="Text 8"/>
          <p:cNvSpPr/>
          <p:nvPr/>
        </p:nvSpPr>
        <p:spPr>
          <a:xfrm>
            <a:off x="2130552" y="1691640"/>
            <a:ext cx="1371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Preprocess</a:t>
            </a:r>
            <a:endParaRPr lang="en-US" sz="1300" dirty="0"/>
          </a:p>
        </p:txBody>
      </p:sp>
      <p:sp>
        <p:nvSpPr>
          <p:cNvPr id="11" name="Text 9"/>
          <p:cNvSpPr/>
          <p:nvPr/>
        </p:nvSpPr>
        <p:spPr>
          <a:xfrm>
            <a:off x="2130552" y="2194560"/>
            <a:ext cx="1371600" cy="19202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Pandas: nulls fixed,</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duplicates removed,</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features engineered</a:t>
            </a:r>
            <a:endParaRPr lang="en-US" sz="1100" dirty="0"/>
          </a:p>
        </p:txBody>
      </p:sp>
      <p:sp>
        <p:nvSpPr>
          <p:cNvPr id="12" name="Shape 10"/>
          <p:cNvSpPr/>
          <p:nvPr/>
        </p:nvSpPr>
        <p:spPr>
          <a:xfrm>
            <a:off x="3639312" y="2560320"/>
            <a:ext cx="164592" cy="54864"/>
          </a:xfrm>
          <a:prstGeom prst="rect">
            <a:avLst/>
          </a:prstGeom>
          <a:solidFill>
            <a:srgbClr val="64748B"/>
          </a:solidFill>
          <a:ln w="12700">
            <a:solidFill>
              <a:srgbClr val="64748B"/>
            </a:solidFill>
            <a:prstDash val="solid"/>
          </a:ln>
        </p:spPr>
        <p:txBody>
          <a:bodyPr/>
          <a:lstStyle/>
          <a:p>
            <a:endParaRPr lang="en-US"/>
          </a:p>
        </p:txBody>
      </p:sp>
      <p:sp>
        <p:nvSpPr>
          <p:cNvPr id="13" name="Shape 11"/>
          <p:cNvSpPr/>
          <p:nvPr/>
        </p:nvSpPr>
        <p:spPr>
          <a:xfrm>
            <a:off x="3849624" y="1005840"/>
            <a:ext cx="1554480" cy="3291840"/>
          </a:xfrm>
          <a:prstGeom prst="rect">
            <a:avLst/>
          </a:prstGeom>
          <a:solidFill>
            <a:srgbClr val="0D1B2A"/>
          </a:solidFill>
          <a:ln w="12700">
            <a:solidFill>
              <a:srgbClr val="0D1B2A"/>
            </a:solidFill>
            <a:prstDash val="solid"/>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3941064" y="1097280"/>
            <a:ext cx="1371600" cy="502920"/>
          </a:xfrm>
          <a:prstGeom prst="rect">
            <a:avLst/>
          </a:prstGeom>
          <a:noFill/>
          <a:ln/>
        </p:spPr>
        <p:txBody>
          <a:bodyPr wrap="square" lIns="0" tIns="0" rIns="0" bIns="0" rtlCol="0" anchor="ctr"/>
          <a:lstStyle/>
          <a:p>
            <a:pPr marL="0" indent="0">
              <a:buNone/>
            </a:pPr>
            <a:r>
              <a:rPr lang="en-US" sz="2800" b="1" dirty="0">
                <a:solidFill>
                  <a:srgbClr val="7030A0"/>
                </a:solidFill>
                <a:latin typeface="Calibri" pitchFamily="34" charset="0"/>
                <a:ea typeface="Calibri" pitchFamily="34" charset="-122"/>
                <a:cs typeface="Calibri" pitchFamily="34" charset="-120"/>
              </a:rPr>
              <a:t>03</a:t>
            </a:r>
            <a:endParaRPr lang="en-US" sz="2800" dirty="0">
              <a:solidFill>
                <a:srgbClr val="7030A0"/>
              </a:solidFill>
            </a:endParaRPr>
          </a:p>
        </p:txBody>
      </p:sp>
      <p:sp>
        <p:nvSpPr>
          <p:cNvPr id="15" name="Text 13"/>
          <p:cNvSpPr/>
          <p:nvPr/>
        </p:nvSpPr>
        <p:spPr>
          <a:xfrm>
            <a:off x="3941064" y="1691640"/>
            <a:ext cx="1371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EDA</a:t>
            </a:r>
            <a:endParaRPr lang="en-US" sz="1300" dirty="0"/>
          </a:p>
        </p:txBody>
      </p:sp>
      <p:sp>
        <p:nvSpPr>
          <p:cNvPr id="16" name="Text 14"/>
          <p:cNvSpPr/>
          <p:nvPr/>
        </p:nvSpPr>
        <p:spPr>
          <a:xfrm>
            <a:off x="3941064" y="2194560"/>
            <a:ext cx="1371600" cy="1920240"/>
          </a:xfrm>
          <a:prstGeom prst="rect">
            <a:avLst/>
          </a:prstGeom>
          <a:noFill/>
          <a:ln/>
        </p:spPr>
        <p:txBody>
          <a:bodyPr wrap="square" lIns="0" tIns="0" rIns="0" bIns="0" rtlCol="0" anchor="ctr"/>
          <a:lstStyle/>
          <a:p>
            <a:pPr marL="0" indent="0">
              <a:buNone/>
            </a:pPr>
            <a:r>
              <a:rPr lang="en-US" sz="1100" dirty="0">
                <a:solidFill>
                  <a:srgbClr val="7030A0"/>
                </a:solidFill>
                <a:latin typeface="Calibri" pitchFamily="34" charset="0"/>
                <a:ea typeface="Calibri" pitchFamily="34" charset="-122"/>
                <a:cs typeface="Calibri" pitchFamily="34" charset="-120"/>
              </a:rPr>
              <a:t>5 charts: genres,</a:t>
            </a:r>
            <a:endParaRPr lang="en-US" sz="1100" dirty="0">
              <a:solidFill>
                <a:srgbClr val="7030A0"/>
              </a:solidFill>
            </a:endParaRPr>
          </a:p>
          <a:p>
            <a:pPr marL="0" indent="0">
              <a:buNone/>
            </a:pPr>
            <a:r>
              <a:rPr lang="en-US" sz="1100" dirty="0">
                <a:solidFill>
                  <a:srgbClr val="7030A0"/>
                </a:solidFill>
                <a:latin typeface="Calibri" pitchFamily="34" charset="0"/>
                <a:ea typeface="Calibri" pitchFamily="34" charset="-122"/>
                <a:cs typeface="Calibri" pitchFamily="34" charset="-120"/>
              </a:rPr>
              <a:t>platforms, trends,</a:t>
            </a:r>
            <a:endParaRPr lang="en-US" sz="1100" dirty="0">
              <a:solidFill>
                <a:srgbClr val="7030A0"/>
              </a:solidFill>
            </a:endParaRPr>
          </a:p>
          <a:p>
            <a:pPr marL="0" indent="0">
              <a:buNone/>
            </a:pPr>
            <a:r>
              <a:rPr lang="en-US" sz="1100" dirty="0">
                <a:solidFill>
                  <a:srgbClr val="7030A0"/>
                </a:solidFill>
                <a:latin typeface="Calibri" pitchFamily="34" charset="0"/>
                <a:ea typeface="Calibri" pitchFamily="34" charset="-122"/>
                <a:cs typeface="Calibri" pitchFamily="34" charset="-120"/>
              </a:rPr>
              <a:t>top games, heatmap</a:t>
            </a:r>
            <a:endParaRPr lang="en-US" sz="1100" dirty="0">
              <a:solidFill>
                <a:srgbClr val="7030A0"/>
              </a:solidFill>
            </a:endParaRPr>
          </a:p>
        </p:txBody>
      </p:sp>
      <p:sp>
        <p:nvSpPr>
          <p:cNvPr id="17" name="Shape 15"/>
          <p:cNvSpPr/>
          <p:nvPr/>
        </p:nvSpPr>
        <p:spPr>
          <a:xfrm>
            <a:off x="5449824" y="2560320"/>
            <a:ext cx="164592" cy="54864"/>
          </a:xfrm>
          <a:prstGeom prst="rect">
            <a:avLst/>
          </a:prstGeom>
          <a:solidFill>
            <a:srgbClr val="64748B"/>
          </a:solidFill>
          <a:ln w="12700">
            <a:solidFill>
              <a:srgbClr val="64748B"/>
            </a:solidFill>
            <a:prstDash val="solid"/>
          </a:ln>
        </p:spPr>
        <p:txBody>
          <a:bodyPr/>
          <a:lstStyle/>
          <a:p>
            <a:endParaRPr lang="en-US"/>
          </a:p>
        </p:txBody>
      </p:sp>
      <p:sp>
        <p:nvSpPr>
          <p:cNvPr id="18" name="Shape 16"/>
          <p:cNvSpPr/>
          <p:nvPr/>
        </p:nvSpPr>
        <p:spPr>
          <a:xfrm>
            <a:off x="5660136" y="1005840"/>
            <a:ext cx="1554480" cy="3291840"/>
          </a:xfrm>
          <a:prstGeom prst="rect">
            <a:avLst/>
          </a:prstGeom>
          <a:solidFill>
            <a:srgbClr val="7030A0"/>
          </a:solidFill>
          <a:ln w="12700">
            <a:solidFill>
              <a:srgbClr val="7030A0"/>
            </a:solidFill>
            <a:prstDash val="solid"/>
          </a:ln>
          <a:effectLst>
            <a:outerShdw blurRad="76200" dist="25400" dir="8100000" algn="bl" rotWithShape="0">
              <a:srgbClr val="000000">
                <a:alpha val="12000"/>
              </a:srgbClr>
            </a:outerShdw>
          </a:effectLst>
        </p:spPr>
        <p:txBody>
          <a:bodyPr/>
          <a:lstStyle/>
          <a:p>
            <a:endParaRPr lang="en-US">
              <a:solidFill>
                <a:srgbClr val="7030A0"/>
              </a:solidFill>
            </a:endParaRPr>
          </a:p>
        </p:txBody>
      </p:sp>
      <p:sp>
        <p:nvSpPr>
          <p:cNvPr id="19" name="Text 17"/>
          <p:cNvSpPr/>
          <p:nvPr/>
        </p:nvSpPr>
        <p:spPr>
          <a:xfrm>
            <a:off x="5751576" y="1097280"/>
            <a:ext cx="1371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20" name="Text 18"/>
          <p:cNvSpPr/>
          <p:nvPr/>
        </p:nvSpPr>
        <p:spPr>
          <a:xfrm>
            <a:off x="5751576" y="1691640"/>
            <a:ext cx="1371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PySpark</a:t>
            </a:r>
            <a:endParaRPr lang="en-US" sz="1300" dirty="0"/>
          </a:p>
        </p:txBody>
      </p:sp>
      <p:sp>
        <p:nvSpPr>
          <p:cNvPr id="21" name="Text 19"/>
          <p:cNvSpPr/>
          <p:nvPr/>
        </p:nvSpPr>
        <p:spPr>
          <a:xfrm>
            <a:off x="5751576" y="2194560"/>
            <a:ext cx="1371600" cy="19202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Aggregations +</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Spark SQL queries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at scale</a:t>
            </a:r>
            <a:endParaRPr lang="en-US" sz="1100" dirty="0"/>
          </a:p>
        </p:txBody>
      </p:sp>
      <p:sp>
        <p:nvSpPr>
          <p:cNvPr id="22" name="Shape 20"/>
          <p:cNvSpPr/>
          <p:nvPr/>
        </p:nvSpPr>
        <p:spPr>
          <a:xfrm>
            <a:off x="7260336" y="2560320"/>
            <a:ext cx="164592" cy="54864"/>
          </a:xfrm>
          <a:prstGeom prst="rect">
            <a:avLst/>
          </a:prstGeom>
          <a:solidFill>
            <a:srgbClr val="64748B"/>
          </a:solidFill>
          <a:ln w="12700">
            <a:solidFill>
              <a:srgbClr val="64748B"/>
            </a:solidFill>
            <a:prstDash val="solid"/>
          </a:ln>
        </p:spPr>
        <p:txBody>
          <a:bodyPr/>
          <a:lstStyle/>
          <a:p>
            <a:endParaRPr lang="en-US"/>
          </a:p>
        </p:txBody>
      </p:sp>
      <p:sp>
        <p:nvSpPr>
          <p:cNvPr id="23" name="Shape 21"/>
          <p:cNvSpPr/>
          <p:nvPr/>
        </p:nvSpPr>
        <p:spPr>
          <a:xfrm>
            <a:off x="7470648" y="1005840"/>
            <a:ext cx="1554480" cy="3291840"/>
          </a:xfrm>
          <a:prstGeom prst="rect">
            <a:avLst/>
          </a:prstGeom>
          <a:solidFill>
            <a:srgbClr val="0D1B2A"/>
          </a:solidFill>
          <a:ln w="12700">
            <a:solidFill>
              <a:srgbClr val="0D1B2A"/>
            </a:solidFill>
            <a:prstDash val="solid"/>
          </a:ln>
          <a:effectLst>
            <a:outerShdw blurRad="76200" dist="25400" dir="8100000" algn="bl" rotWithShape="0">
              <a:srgbClr val="000000">
                <a:alpha val="12000"/>
              </a:srgbClr>
            </a:outerShdw>
          </a:effectLst>
        </p:spPr>
        <p:txBody>
          <a:bodyPr/>
          <a:lstStyle/>
          <a:p>
            <a:endParaRPr lang="en-US"/>
          </a:p>
        </p:txBody>
      </p:sp>
      <p:sp>
        <p:nvSpPr>
          <p:cNvPr id="24" name="Text 22"/>
          <p:cNvSpPr/>
          <p:nvPr/>
        </p:nvSpPr>
        <p:spPr>
          <a:xfrm>
            <a:off x="7562088" y="1097280"/>
            <a:ext cx="1371600" cy="502920"/>
          </a:xfrm>
          <a:prstGeom prst="rect">
            <a:avLst/>
          </a:prstGeom>
          <a:noFill/>
          <a:ln/>
        </p:spPr>
        <p:txBody>
          <a:bodyPr wrap="square" lIns="0" tIns="0" rIns="0" bIns="0" rtlCol="0" anchor="ctr"/>
          <a:lstStyle/>
          <a:p>
            <a:pPr marL="0" indent="0">
              <a:buNone/>
            </a:pPr>
            <a:r>
              <a:rPr lang="en-US" sz="2800" b="1" dirty="0">
                <a:solidFill>
                  <a:srgbClr val="7030A0"/>
                </a:solidFill>
                <a:latin typeface="Calibri" pitchFamily="34" charset="0"/>
                <a:ea typeface="Calibri" pitchFamily="34" charset="-122"/>
                <a:cs typeface="Calibri" pitchFamily="34" charset="-120"/>
              </a:rPr>
              <a:t>05</a:t>
            </a:r>
            <a:endParaRPr lang="en-US" sz="2800" dirty="0">
              <a:solidFill>
                <a:srgbClr val="7030A0"/>
              </a:solidFill>
            </a:endParaRPr>
          </a:p>
        </p:txBody>
      </p:sp>
      <p:sp>
        <p:nvSpPr>
          <p:cNvPr id="25" name="Text 23"/>
          <p:cNvSpPr/>
          <p:nvPr/>
        </p:nvSpPr>
        <p:spPr>
          <a:xfrm>
            <a:off x="7562088" y="1691640"/>
            <a:ext cx="1371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Predict</a:t>
            </a:r>
            <a:endParaRPr lang="en-US" sz="1300" dirty="0"/>
          </a:p>
        </p:txBody>
      </p:sp>
      <p:sp>
        <p:nvSpPr>
          <p:cNvPr id="26" name="Text 24"/>
          <p:cNvSpPr/>
          <p:nvPr/>
        </p:nvSpPr>
        <p:spPr>
          <a:xfrm>
            <a:off x="7562088" y="2194560"/>
            <a:ext cx="1371600" cy="1920240"/>
          </a:xfrm>
          <a:prstGeom prst="rect">
            <a:avLst/>
          </a:prstGeom>
          <a:noFill/>
          <a:ln/>
        </p:spPr>
        <p:txBody>
          <a:bodyPr wrap="square" lIns="0" tIns="0" rIns="0" bIns="0" rtlCol="0" anchor="ctr"/>
          <a:lstStyle/>
          <a:p>
            <a:pPr marL="0" indent="0">
              <a:buNone/>
            </a:pPr>
            <a:r>
              <a:rPr lang="en-US" sz="1100" dirty="0">
                <a:solidFill>
                  <a:srgbClr val="7030A0"/>
                </a:solidFill>
                <a:latin typeface="Calibri" pitchFamily="34" charset="0"/>
                <a:ea typeface="Calibri" pitchFamily="34" charset="-122"/>
                <a:cs typeface="Calibri" pitchFamily="34" charset="-120"/>
              </a:rPr>
              <a:t>Random Forest</a:t>
            </a:r>
            <a:endParaRPr lang="en-US" sz="1100" dirty="0">
              <a:solidFill>
                <a:srgbClr val="7030A0"/>
              </a:solidFill>
            </a:endParaRPr>
          </a:p>
          <a:p>
            <a:pPr marL="0" indent="0">
              <a:buNone/>
            </a:pPr>
            <a:r>
              <a:rPr lang="en-US" sz="1100" dirty="0">
                <a:solidFill>
                  <a:srgbClr val="7030A0"/>
                </a:solidFill>
                <a:latin typeface="Calibri" pitchFamily="34" charset="0"/>
                <a:ea typeface="Calibri" pitchFamily="34" charset="-122"/>
                <a:cs typeface="Calibri" pitchFamily="34" charset="-120"/>
              </a:rPr>
              <a:t>Regressor for</a:t>
            </a:r>
            <a:endParaRPr lang="en-US" sz="1100" dirty="0">
              <a:solidFill>
                <a:srgbClr val="7030A0"/>
              </a:solidFill>
            </a:endParaRPr>
          </a:p>
          <a:p>
            <a:pPr marL="0" indent="0">
              <a:buNone/>
            </a:pPr>
            <a:r>
              <a:rPr lang="en-US" sz="1100" dirty="0">
                <a:solidFill>
                  <a:srgbClr val="7030A0"/>
                </a:solidFill>
                <a:latin typeface="Calibri" pitchFamily="34" charset="0"/>
                <a:ea typeface="Calibri" pitchFamily="34" charset="-122"/>
                <a:cs typeface="Calibri" pitchFamily="34" charset="-120"/>
              </a:rPr>
              <a:t>Global Sales</a:t>
            </a:r>
            <a:endParaRPr lang="en-US" sz="1100"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EDA Key Findings</a:t>
            </a:r>
            <a:endParaRPr lang="en-US" sz="3200" dirty="0"/>
          </a:p>
        </p:txBody>
      </p:sp>
      <p:graphicFrame>
        <p:nvGraphicFramePr>
          <p:cNvPr id="3" name="Chart 0"/>
          <p:cNvGraphicFramePr/>
          <p:nvPr>
            <p:extLst>
              <p:ext uri="{D42A27DB-BD31-4B8C-83A1-F6EECF244321}">
                <p14:modId xmlns:p14="http://schemas.microsoft.com/office/powerpoint/2010/main" val="2169770312"/>
              </p:ext>
            </p:extLst>
          </p:nvPr>
        </p:nvGraphicFramePr>
        <p:xfrm>
          <a:off x="457200" y="960120"/>
          <a:ext cx="50292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760720" y="960120"/>
            <a:ext cx="2926080" cy="777240"/>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5" name="Shape 2"/>
          <p:cNvSpPr/>
          <p:nvPr/>
        </p:nvSpPr>
        <p:spPr>
          <a:xfrm>
            <a:off x="5760720" y="960120"/>
            <a:ext cx="64008" cy="777240"/>
          </a:xfrm>
          <a:prstGeom prst="rect">
            <a:avLst/>
          </a:prstGeom>
          <a:solidFill>
            <a:srgbClr val="7030A0"/>
          </a:solidFill>
          <a:ln w="12700">
            <a:solidFill>
              <a:srgbClr val="7030A0"/>
            </a:solidFill>
            <a:prstDash val="solid"/>
          </a:ln>
        </p:spPr>
        <p:txBody>
          <a:bodyPr/>
          <a:lstStyle/>
          <a:p>
            <a:endParaRPr lang="en-US"/>
          </a:p>
        </p:txBody>
      </p:sp>
      <p:sp>
        <p:nvSpPr>
          <p:cNvPr id="6" name="Text 3"/>
          <p:cNvSpPr/>
          <p:nvPr/>
        </p:nvSpPr>
        <p:spPr>
          <a:xfrm>
            <a:off x="5897880" y="1014984"/>
            <a:ext cx="2743200" cy="256032"/>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#1 Genre</a:t>
            </a:r>
            <a:endParaRPr lang="en-US" sz="1200" dirty="0">
              <a:solidFill>
                <a:srgbClr val="7030A0"/>
              </a:solidFill>
            </a:endParaRPr>
          </a:p>
        </p:txBody>
      </p:sp>
      <p:sp>
        <p:nvSpPr>
          <p:cNvPr id="7" name="Text 4"/>
          <p:cNvSpPr/>
          <p:nvPr/>
        </p:nvSpPr>
        <p:spPr>
          <a:xfrm>
            <a:off x="5897880" y="1307592"/>
            <a:ext cx="27432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Action games lead with 1,751M units sold globally</a:t>
            </a:r>
            <a:endParaRPr lang="en-US" sz="1000" dirty="0"/>
          </a:p>
        </p:txBody>
      </p:sp>
      <p:sp>
        <p:nvSpPr>
          <p:cNvPr id="8" name="Shape 5"/>
          <p:cNvSpPr/>
          <p:nvPr/>
        </p:nvSpPr>
        <p:spPr>
          <a:xfrm>
            <a:off x="5760720" y="1847088"/>
            <a:ext cx="2926080" cy="777240"/>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9" name="Shape 6"/>
          <p:cNvSpPr/>
          <p:nvPr/>
        </p:nvSpPr>
        <p:spPr>
          <a:xfrm>
            <a:off x="5760720" y="1847088"/>
            <a:ext cx="64008" cy="777240"/>
          </a:xfrm>
          <a:prstGeom prst="rect">
            <a:avLst/>
          </a:prstGeom>
          <a:solidFill>
            <a:srgbClr val="7030A0"/>
          </a:solidFill>
          <a:ln w="12700">
            <a:solidFill>
              <a:srgbClr val="7030A0"/>
            </a:solidFill>
            <a:prstDash val="solid"/>
          </a:ln>
        </p:spPr>
        <p:txBody>
          <a:bodyPr/>
          <a:lstStyle/>
          <a:p>
            <a:endParaRPr lang="en-US"/>
          </a:p>
        </p:txBody>
      </p:sp>
      <p:sp>
        <p:nvSpPr>
          <p:cNvPr id="10" name="Text 7"/>
          <p:cNvSpPr/>
          <p:nvPr/>
        </p:nvSpPr>
        <p:spPr>
          <a:xfrm>
            <a:off x="5897880" y="1901952"/>
            <a:ext cx="2743200" cy="256032"/>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#1 Platform</a:t>
            </a:r>
            <a:endParaRPr lang="en-US" sz="1200" dirty="0">
              <a:solidFill>
                <a:srgbClr val="7030A0"/>
              </a:solidFill>
            </a:endParaRPr>
          </a:p>
        </p:txBody>
      </p:sp>
      <p:sp>
        <p:nvSpPr>
          <p:cNvPr id="11" name="Text 8"/>
          <p:cNvSpPr/>
          <p:nvPr/>
        </p:nvSpPr>
        <p:spPr>
          <a:xfrm>
            <a:off x="5897880" y="2194560"/>
            <a:ext cx="27432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PS2 is the best selling platform of all time</a:t>
            </a:r>
            <a:endParaRPr lang="en-US" sz="1000" dirty="0"/>
          </a:p>
        </p:txBody>
      </p:sp>
      <p:sp>
        <p:nvSpPr>
          <p:cNvPr id="12" name="Shape 9"/>
          <p:cNvSpPr/>
          <p:nvPr/>
        </p:nvSpPr>
        <p:spPr>
          <a:xfrm>
            <a:off x="5760720" y="2734056"/>
            <a:ext cx="2926080" cy="777240"/>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13" name="Shape 10"/>
          <p:cNvSpPr/>
          <p:nvPr/>
        </p:nvSpPr>
        <p:spPr>
          <a:xfrm>
            <a:off x="5760720" y="2734056"/>
            <a:ext cx="64008" cy="777240"/>
          </a:xfrm>
          <a:prstGeom prst="rect">
            <a:avLst/>
          </a:prstGeom>
          <a:solidFill>
            <a:srgbClr val="7030A0"/>
          </a:solidFill>
          <a:ln w="12700">
            <a:solidFill>
              <a:srgbClr val="7030A0"/>
            </a:solidFill>
            <a:prstDash val="solid"/>
          </a:ln>
        </p:spPr>
        <p:txBody>
          <a:bodyPr/>
          <a:lstStyle/>
          <a:p>
            <a:endParaRPr lang="en-US"/>
          </a:p>
        </p:txBody>
      </p:sp>
      <p:sp>
        <p:nvSpPr>
          <p:cNvPr id="14" name="Text 11"/>
          <p:cNvSpPr/>
          <p:nvPr/>
        </p:nvSpPr>
        <p:spPr>
          <a:xfrm>
            <a:off x="5897880" y="2788920"/>
            <a:ext cx="2743200" cy="256032"/>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Peak Year</a:t>
            </a:r>
            <a:endParaRPr lang="en-US" sz="1200" dirty="0">
              <a:solidFill>
                <a:srgbClr val="7030A0"/>
              </a:solidFill>
            </a:endParaRPr>
          </a:p>
        </p:txBody>
      </p:sp>
      <p:sp>
        <p:nvSpPr>
          <p:cNvPr id="15" name="Text 12"/>
          <p:cNvSpPr/>
          <p:nvPr/>
        </p:nvSpPr>
        <p:spPr>
          <a:xfrm>
            <a:off x="5897880" y="3081528"/>
            <a:ext cx="27432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Sales peaked in 2008–2009 and have declined since</a:t>
            </a:r>
            <a:endParaRPr lang="en-US" sz="1000" dirty="0"/>
          </a:p>
        </p:txBody>
      </p:sp>
      <p:sp>
        <p:nvSpPr>
          <p:cNvPr id="16" name="Shape 13"/>
          <p:cNvSpPr/>
          <p:nvPr/>
        </p:nvSpPr>
        <p:spPr>
          <a:xfrm>
            <a:off x="5760720" y="3621024"/>
            <a:ext cx="2926080" cy="777240"/>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17" name="Shape 14"/>
          <p:cNvSpPr/>
          <p:nvPr/>
        </p:nvSpPr>
        <p:spPr>
          <a:xfrm>
            <a:off x="5760720" y="3621024"/>
            <a:ext cx="64008" cy="777240"/>
          </a:xfrm>
          <a:prstGeom prst="rect">
            <a:avLst/>
          </a:prstGeom>
          <a:solidFill>
            <a:srgbClr val="7030A0"/>
          </a:solidFill>
          <a:ln w="12700">
            <a:solidFill>
              <a:srgbClr val="7030A0"/>
            </a:solidFill>
            <a:prstDash val="solid"/>
          </a:ln>
        </p:spPr>
        <p:txBody>
          <a:bodyPr/>
          <a:lstStyle/>
          <a:p>
            <a:endParaRPr lang="en-US"/>
          </a:p>
        </p:txBody>
      </p:sp>
      <p:sp>
        <p:nvSpPr>
          <p:cNvPr id="18" name="Text 15"/>
          <p:cNvSpPr/>
          <p:nvPr/>
        </p:nvSpPr>
        <p:spPr>
          <a:xfrm>
            <a:off x="5897880" y="3675888"/>
            <a:ext cx="2743200" cy="256032"/>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Top Game</a:t>
            </a:r>
            <a:endParaRPr lang="en-US" sz="1200" dirty="0">
              <a:solidFill>
                <a:srgbClr val="7030A0"/>
              </a:solidFill>
            </a:endParaRPr>
          </a:p>
        </p:txBody>
      </p:sp>
      <p:sp>
        <p:nvSpPr>
          <p:cNvPr id="19" name="Text 16"/>
          <p:cNvSpPr/>
          <p:nvPr/>
        </p:nvSpPr>
        <p:spPr>
          <a:xfrm>
            <a:off x="5897880" y="3968496"/>
            <a:ext cx="27432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Wii Sports is the best selling individual title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Sales Trend Over Time</a:t>
            </a:r>
            <a:endParaRPr lang="en-US" sz="3200" dirty="0"/>
          </a:p>
        </p:txBody>
      </p:sp>
      <p:graphicFrame>
        <p:nvGraphicFramePr>
          <p:cNvPr id="3" name="Chart 0"/>
          <p:cNvGraphicFramePr/>
          <p:nvPr>
            <p:extLst>
              <p:ext uri="{D42A27DB-BD31-4B8C-83A1-F6EECF244321}">
                <p14:modId xmlns:p14="http://schemas.microsoft.com/office/powerpoint/2010/main" val="3431833749"/>
              </p:ext>
            </p:extLst>
          </p:nvPr>
        </p:nvGraphicFramePr>
        <p:xfrm>
          <a:off x="457200" y="914400"/>
          <a:ext cx="8229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5303520" y="1005840"/>
            <a:ext cx="1828800" cy="36576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Peak: 2008–2009</a:t>
            </a:r>
            <a:endParaRPr lang="en-US" sz="1200" dirty="0">
              <a:solidFill>
                <a:srgbClr val="7030A0"/>
              </a:solidFill>
            </a:endParaRPr>
          </a:p>
        </p:txBody>
      </p:sp>
      <p:sp>
        <p:nvSpPr>
          <p:cNvPr id="5" name="Text 2"/>
          <p:cNvSpPr/>
          <p:nvPr/>
        </p:nvSpPr>
        <p:spPr>
          <a:xfrm>
            <a:off x="457200" y="4251960"/>
            <a:ext cx="8229600" cy="64008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Business Insight: </a:t>
            </a:r>
            <a:r>
              <a:rPr lang="en-US" sz="1200" dirty="0">
                <a:solidFill>
                  <a:srgbClr val="1E293B"/>
                </a:solidFill>
                <a:latin typeface="Calibri" pitchFamily="34" charset="0"/>
                <a:ea typeface="Calibri" pitchFamily="34" charset="-122"/>
                <a:cs typeface="Calibri" pitchFamily="34" charset="-120"/>
              </a:rPr>
              <a:t>The sharp decline after 2009 coincides with the rise of mobile gaming and free-to-play models. Traditional console game publishers should invest in mobile and digital distribution channels to capture shifting consumer behaviour.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411480" y="22860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PySpark Processing</a:t>
            </a:r>
            <a:endParaRPr lang="en-US" sz="3200" dirty="0"/>
          </a:p>
        </p:txBody>
      </p:sp>
      <p:graphicFrame>
        <p:nvGraphicFramePr>
          <p:cNvPr id="4" name="Chart 0"/>
          <p:cNvGraphicFramePr/>
          <p:nvPr>
            <p:extLst>
              <p:ext uri="{D42A27DB-BD31-4B8C-83A1-F6EECF244321}">
                <p14:modId xmlns:p14="http://schemas.microsoft.com/office/powerpoint/2010/main" val="4213525232"/>
              </p:ext>
            </p:extLst>
          </p:nvPr>
        </p:nvGraphicFramePr>
        <p:xfrm>
          <a:off x="411480" y="960120"/>
          <a:ext cx="411480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177367656"/>
              </p:ext>
            </p:extLst>
          </p:nvPr>
        </p:nvGraphicFramePr>
        <p:xfrm>
          <a:off x="4754880" y="960120"/>
          <a:ext cx="4114800" cy="34747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Predictive Model — Random Forest</a:t>
            </a:r>
            <a:endParaRPr lang="en-US" sz="3200" dirty="0"/>
          </a:p>
        </p:txBody>
      </p:sp>
      <p:graphicFrame>
        <p:nvGraphicFramePr>
          <p:cNvPr id="3" name="Chart 0"/>
          <p:cNvGraphicFramePr/>
          <p:nvPr>
            <p:extLst>
              <p:ext uri="{D42A27DB-BD31-4B8C-83A1-F6EECF244321}">
                <p14:modId xmlns:p14="http://schemas.microsoft.com/office/powerpoint/2010/main" val="1189075834"/>
              </p:ext>
            </p:extLst>
          </p:nvPr>
        </p:nvGraphicFramePr>
        <p:xfrm>
          <a:off x="457200" y="96012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760720" y="960120"/>
            <a:ext cx="2926080" cy="758952"/>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5" name="Shape 2"/>
          <p:cNvSpPr/>
          <p:nvPr/>
        </p:nvSpPr>
        <p:spPr>
          <a:xfrm>
            <a:off x="5760720" y="960120"/>
            <a:ext cx="64008" cy="758952"/>
          </a:xfrm>
          <a:prstGeom prst="rect">
            <a:avLst/>
          </a:prstGeom>
          <a:solidFill>
            <a:srgbClr val="7030A0"/>
          </a:solidFill>
          <a:ln w="12700">
            <a:solidFill>
              <a:srgbClr val="7030A0"/>
            </a:solidFill>
            <a:prstDash val="solid"/>
          </a:ln>
        </p:spPr>
        <p:txBody>
          <a:bodyPr/>
          <a:lstStyle/>
          <a:p>
            <a:endParaRPr lang="en-US"/>
          </a:p>
        </p:txBody>
      </p:sp>
      <p:sp>
        <p:nvSpPr>
          <p:cNvPr id="6" name="Text 3"/>
          <p:cNvSpPr/>
          <p:nvPr/>
        </p:nvSpPr>
        <p:spPr>
          <a:xfrm>
            <a:off x="5897880" y="1014984"/>
            <a:ext cx="2743200" cy="228600"/>
          </a:xfrm>
          <a:prstGeom prst="rect">
            <a:avLst/>
          </a:prstGeom>
          <a:noFill/>
          <a:ln/>
        </p:spPr>
        <p:txBody>
          <a:bodyPr wrap="square" lIns="0" tIns="0" rIns="0" bIns="0" rtlCol="0" anchor="ctr"/>
          <a:lstStyle/>
          <a:p>
            <a:pPr marL="0" indent="0">
              <a:buNone/>
            </a:pPr>
            <a:r>
              <a:rPr lang="en-US" sz="1100" b="1" dirty="0">
                <a:solidFill>
                  <a:srgbClr val="7030A0"/>
                </a:solidFill>
                <a:latin typeface="Calibri" pitchFamily="34" charset="0"/>
                <a:ea typeface="Calibri" pitchFamily="34" charset="-122"/>
                <a:cs typeface="Calibri" pitchFamily="34" charset="-120"/>
              </a:rPr>
              <a:t>Model</a:t>
            </a:r>
            <a:endParaRPr lang="en-US" sz="1100" dirty="0">
              <a:solidFill>
                <a:srgbClr val="7030A0"/>
              </a:solidFill>
            </a:endParaRPr>
          </a:p>
        </p:txBody>
      </p:sp>
      <p:sp>
        <p:nvSpPr>
          <p:cNvPr id="7" name="Text 4"/>
          <p:cNvSpPr/>
          <p:nvPr/>
        </p:nvSpPr>
        <p:spPr>
          <a:xfrm>
            <a:off x="5897880" y="1289304"/>
            <a:ext cx="2743200" cy="3657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Random Forest Regressor</a:t>
            </a:r>
            <a:endParaRPr lang="en-US" sz="1100" dirty="0"/>
          </a:p>
        </p:txBody>
      </p:sp>
      <p:sp>
        <p:nvSpPr>
          <p:cNvPr id="8" name="Shape 5"/>
          <p:cNvSpPr/>
          <p:nvPr/>
        </p:nvSpPr>
        <p:spPr>
          <a:xfrm>
            <a:off x="5760720" y="1828800"/>
            <a:ext cx="2926080" cy="758952"/>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9" name="Shape 6"/>
          <p:cNvSpPr/>
          <p:nvPr/>
        </p:nvSpPr>
        <p:spPr>
          <a:xfrm>
            <a:off x="5760720" y="1828800"/>
            <a:ext cx="64008" cy="758952"/>
          </a:xfrm>
          <a:prstGeom prst="rect">
            <a:avLst/>
          </a:prstGeom>
          <a:solidFill>
            <a:srgbClr val="7030A0"/>
          </a:solidFill>
          <a:ln w="12700">
            <a:solidFill>
              <a:srgbClr val="7030A0"/>
            </a:solidFill>
            <a:prstDash val="solid"/>
          </a:ln>
        </p:spPr>
        <p:txBody>
          <a:bodyPr/>
          <a:lstStyle/>
          <a:p>
            <a:endParaRPr lang="en-US"/>
          </a:p>
        </p:txBody>
      </p:sp>
      <p:sp>
        <p:nvSpPr>
          <p:cNvPr id="10" name="Text 7"/>
          <p:cNvSpPr/>
          <p:nvPr/>
        </p:nvSpPr>
        <p:spPr>
          <a:xfrm>
            <a:off x="5897880" y="1883664"/>
            <a:ext cx="2743200" cy="228600"/>
          </a:xfrm>
          <a:prstGeom prst="rect">
            <a:avLst/>
          </a:prstGeom>
          <a:noFill/>
          <a:ln/>
        </p:spPr>
        <p:txBody>
          <a:bodyPr wrap="square" lIns="0" tIns="0" rIns="0" bIns="0" rtlCol="0" anchor="ctr"/>
          <a:lstStyle/>
          <a:p>
            <a:pPr marL="0" indent="0">
              <a:buNone/>
            </a:pPr>
            <a:r>
              <a:rPr lang="en-US" sz="1100" b="1" dirty="0">
                <a:solidFill>
                  <a:srgbClr val="7030A0"/>
                </a:solidFill>
                <a:latin typeface="Calibri" pitchFamily="34" charset="0"/>
                <a:ea typeface="Calibri" pitchFamily="34" charset="-122"/>
                <a:cs typeface="Calibri" pitchFamily="34" charset="-120"/>
              </a:rPr>
              <a:t>Target</a:t>
            </a:r>
            <a:endParaRPr lang="en-US" sz="1100" dirty="0">
              <a:solidFill>
                <a:srgbClr val="7030A0"/>
              </a:solidFill>
            </a:endParaRPr>
          </a:p>
        </p:txBody>
      </p:sp>
      <p:sp>
        <p:nvSpPr>
          <p:cNvPr id="11" name="Text 8"/>
          <p:cNvSpPr/>
          <p:nvPr/>
        </p:nvSpPr>
        <p:spPr>
          <a:xfrm>
            <a:off x="5897880" y="2157984"/>
            <a:ext cx="2743200" cy="3657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Global Sales (millions)</a:t>
            </a:r>
            <a:endParaRPr lang="en-US" sz="1100" dirty="0"/>
          </a:p>
        </p:txBody>
      </p:sp>
      <p:sp>
        <p:nvSpPr>
          <p:cNvPr id="12" name="Shape 9"/>
          <p:cNvSpPr/>
          <p:nvPr/>
        </p:nvSpPr>
        <p:spPr>
          <a:xfrm>
            <a:off x="5760720" y="2697480"/>
            <a:ext cx="2926080" cy="758952"/>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13" name="Shape 10"/>
          <p:cNvSpPr/>
          <p:nvPr/>
        </p:nvSpPr>
        <p:spPr>
          <a:xfrm>
            <a:off x="5760720" y="2697480"/>
            <a:ext cx="64008" cy="758952"/>
          </a:xfrm>
          <a:prstGeom prst="rect">
            <a:avLst/>
          </a:prstGeom>
          <a:solidFill>
            <a:srgbClr val="7030A0"/>
          </a:solidFill>
          <a:ln w="12700">
            <a:solidFill>
              <a:srgbClr val="7030A0"/>
            </a:solidFill>
            <a:prstDash val="solid"/>
          </a:ln>
        </p:spPr>
        <p:txBody>
          <a:bodyPr/>
          <a:lstStyle/>
          <a:p>
            <a:endParaRPr lang="en-US"/>
          </a:p>
        </p:txBody>
      </p:sp>
      <p:sp>
        <p:nvSpPr>
          <p:cNvPr id="14" name="Text 11"/>
          <p:cNvSpPr/>
          <p:nvPr/>
        </p:nvSpPr>
        <p:spPr>
          <a:xfrm>
            <a:off x="5897880" y="2752344"/>
            <a:ext cx="2743200" cy="228600"/>
          </a:xfrm>
          <a:prstGeom prst="rect">
            <a:avLst/>
          </a:prstGeom>
          <a:noFill/>
          <a:ln/>
        </p:spPr>
        <p:txBody>
          <a:bodyPr wrap="square" lIns="0" tIns="0" rIns="0" bIns="0" rtlCol="0" anchor="ctr"/>
          <a:lstStyle/>
          <a:p>
            <a:pPr marL="0" indent="0">
              <a:buNone/>
            </a:pPr>
            <a:r>
              <a:rPr lang="en-US" sz="1100" b="1" dirty="0">
                <a:solidFill>
                  <a:srgbClr val="7030A0"/>
                </a:solidFill>
                <a:latin typeface="Calibri" pitchFamily="34" charset="0"/>
                <a:ea typeface="Calibri" pitchFamily="34" charset="-122"/>
                <a:cs typeface="Calibri" pitchFamily="34" charset="-120"/>
              </a:rPr>
              <a:t>Features</a:t>
            </a:r>
            <a:endParaRPr lang="en-US" sz="1100" dirty="0">
              <a:solidFill>
                <a:srgbClr val="7030A0"/>
              </a:solidFill>
            </a:endParaRPr>
          </a:p>
        </p:txBody>
      </p:sp>
      <p:sp>
        <p:nvSpPr>
          <p:cNvPr id="15" name="Text 12"/>
          <p:cNvSpPr/>
          <p:nvPr/>
        </p:nvSpPr>
        <p:spPr>
          <a:xfrm>
            <a:off x="5897880" y="3026664"/>
            <a:ext cx="2743200" cy="3657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7 — regional sales, genre,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platform, year</a:t>
            </a:r>
            <a:endParaRPr lang="en-US" sz="1100" dirty="0"/>
          </a:p>
        </p:txBody>
      </p:sp>
      <p:sp>
        <p:nvSpPr>
          <p:cNvPr id="16" name="Shape 13"/>
          <p:cNvSpPr/>
          <p:nvPr/>
        </p:nvSpPr>
        <p:spPr>
          <a:xfrm>
            <a:off x="5760720" y="3566160"/>
            <a:ext cx="2926080" cy="758952"/>
          </a:xfrm>
          <a:prstGeom prst="rect">
            <a:avLst/>
          </a:prstGeom>
          <a:solidFill>
            <a:srgbClr val="FFFFFF"/>
          </a:solidFill>
          <a:ln w="12700">
            <a:solidFill>
              <a:srgbClr val="E2E8F0"/>
            </a:solidFill>
            <a:prstDash val="solid"/>
          </a:ln>
          <a:effectLst>
            <a:outerShdw blurRad="76200" dist="12700" dir="8100000" algn="bl" rotWithShape="0">
              <a:srgbClr val="000000">
                <a:alpha val="8000"/>
              </a:srgbClr>
            </a:outerShdw>
          </a:effectLst>
        </p:spPr>
        <p:txBody>
          <a:bodyPr/>
          <a:lstStyle/>
          <a:p>
            <a:endParaRPr lang="en-US"/>
          </a:p>
        </p:txBody>
      </p:sp>
      <p:sp>
        <p:nvSpPr>
          <p:cNvPr id="17" name="Shape 14"/>
          <p:cNvSpPr/>
          <p:nvPr/>
        </p:nvSpPr>
        <p:spPr>
          <a:xfrm>
            <a:off x="5760720" y="3566160"/>
            <a:ext cx="64008" cy="758952"/>
          </a:xfrm>
          <a:prstGeom prst="rect">
            <a:avLst/>
          </a:prstGeom>
          <a:solidFill>
            <a:srgbClr val="7030A0"/>
          </a:solidFill>
          <a:ln w="12700">
            <a:solidFill>
              <a:srgbClr val="7030A0"/>
            </a:solidFill>
            <a:prstDash val="solid"/>
          </a:ln>
        </p:spPr>
        <p:txBody>
          <a:bodyPr/>
          <a:lstStyle/>
          <a:p>
            <a:endParaRPr lang="en-US"/>
          </a:p>
        </p:txBody>
      </p:sp>
      <p:sp>
        <p:nvSpPr>
          <p:cNvPr id="18" name="Text 15"/>
          <p:cNvSpPr/>
          <p:nvPr/>
        </p:nvSpPr>
        <p:spPr>
          <a:xfrm>
            <a:off x="5897880" y="3621024"/>
            <a:ext cx="2743200" cy="228600"/>
          </a:xfrm>
          <a:prstGeom prst="rect">
            <a:avLst/>
          </a:prstGeom>
          <a:noFill/>
          <a:ln/>
        </p:spPr>
        <p:txBody>
          <a:bodyPr wrap="square" lIns="0" tIns="0" rIns="0" bIns="0" rtlCol="0" anchor="ctr"/>
          <a:lstStyle/>
          <a:p>
            <a:pPr marL="0" indent="0">
              <a:buNone/>
            </a:pPr>
            <a:r>
              <a:rPr lang="en-US" sz="1100" b="1" dirty="0">
                <a:solidFill>
                  <a:srgbClr val="7030A0"/>
                </a:solidFill>
                <a:latin typeface="Calibri" pitchFamily="34" charset="0"/>
                <a:ea typeface="Calibri" pitchFamily="34" charset="-122"/>
                <a:cs typeface="Calibri" pitchFamily="34" charset="-120"/>
              </a:rPr>
              <a:t>Key Finding</a:t>
            </a:r>
            <a:endParaRPr lang="en-US" sz="1100" dirty="0">
              <a:solidFill>
                <a:srgbClr val="7030A0"/>
              </a:solidFill>
            </a:endParaRPr>
          </a:p>
        </p:txBody>
      </p:sp>
      <p:sp>
        <p:nvSpPr>
          <p:cNvPr id="19" name="Text 16"/>
          <p:cNvSpPr/>
          <p:nvPr/>
        </p:nvSpPr>
        <p:spPr>
          <a:xfrm>
            <a:off x="5897880" y="3895344"/>
            <a:ext cx="2743200" cy="3657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NA_Sales alone accounts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for ~67% of predictive power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Business Insights</a:t>
            </a:r>
            <a:endParaRPr lang="en-US" sz="32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What these results mean for a game publisher</a:t>
            </a:r>
            <a:endParaRPr lang="en-US" sz="1400" dirty="0"/>
          </a:p>
        </p:txBody>
      </p:sp>
      <p:sp>
        <p:nvSpPr>
          <p:cNvPr id="4" name="Shape 2"/>
          <p:cNvSpPr/>
          <p:nvPr/>
        </p:nvSpPr>
        <p:spPr>
          <a:xfrm>
            <a:off x="457200" y="1325880"/>
            <a:ext cx="4206240" cy="1600200"/>
          </a:xfrm>
          <a:prstGeom prst="rect">
            <a:avLst/>
          </a:prstGeom>
          <a:solidFill>
            <a:srgbClr val="0D1B2A"/>
          </a:solidFill>
          <a:ln w="12700">
            <a:solidFill>
              <a:srgbClr val="0D1B2A"/>
            </a:solidFill>
            <a:prstDash val="solid"/>
          </a:ln>
          <a:effectLst>
            <a:outerShdw blurRad="101600" dist="25400" dir="8100000" algn="bl" rotWithShape="0">
              <a:srgbClr val="000000">
                <a:alpha val="10000"/>
              </a:srgbClr>
            </a:outerShdw>
          </a:effectLst>
        </p:spPr>
        <p:txBody>
          <a:bodyPr/>
          <a:lstStyle/>
          <a:p>
            <a:endParaRPr lang="en-US"/>
          </a:p>
        </p:txBody>
      </p:sp>
      <p:sp>
        <p:nvSpPr>
          <p:cNvPr id="5" name="Text 3"/>
          <p:cNvSpPr/>
          <p:nvPr/>
        </p:nvSpPr>
        <p:spPr>
          <a:xfrm>
            <a:off x="621792" y="1435608"/>
            <a:ext cx="502920" cy="411480"/>
          </a:xfrm>
          <a:prstGeom prst="rect">
            <a:avLst/>
          </a:prstGeom>
          <a:noFill/>
          <a:ln/>
        </p:spPr>
        <p:txBody>
          <a:bodyPr wrap="square" lIns="0" tIns="0" rIns="0" bIns="0" rtlCol="0" anchor="ctr"/>
          <a:lstStyle/>
          <a:p>
            <a:pPr marL="0" indent="0">
              <a:buNone/>
            </a:pPr>
            <a:r>
              <a:rPr lang="en-US" sz="2200" b="1" dirty="0">
                <a:solidFill>
                  <a:srgbClr val="7030A0"/>
                </a:solidFill>
                <a:latin typeface="Calibri" pitchFamily="34" charset="0"/>
                <a:ea typeface="Calibri" pitchFamily="34" charset="-122"/>
                <a:cs typeface="Calibri" pitchFamily="34" charset="-120"/>
              </a:rPr>
              <a:t>01</a:t>
            </a:r>
            <a:endParaRPr lang="en-US" sz="2200" dirty="0">
              <a:solidFill>
                <a:srgbClr val="7030A0"/>
              </a:solidFill>
            </a:endParaRPr>
          </a:p>
        </p:txBody>
      </p:sp>
      <p:sp>
        <p:nvSpPr>
          <p:cNvPr id="6" name="Text 4"/>
          <p:cNvSpPr/>
          <p:nvPr/>
        </p:nvSpPr>
        <p:spPr>
          <a:xfrm>
            <a:off x="1143000" y="1435608"/>
            <a:ext cx="333756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Invest in Action &amp; Sports genres</a:t>
            </a:r>
            <a:endParaRPr lang="en-US" sz="1200" dirty="0"/>
          </a:p>
        </p:txBody>
      </p:sp>
      <p:sp>
        <p:nvSpPr>
          <p:cNvPr id="7" name="Text 5"/>
          <p:cNvSpPr/>
          <p:nvPr/>
        </p:nvSpPr>
        <p:spPr>
          <a:xfrm>
            <a:off x="621792" y="1920240"/>
            <a:ext cx="3886200" cy="868680"/>
          </a:xfrm>
          <a:prstGeom prst="rect">
            <a:avLst/>
          </a:prstGeom>
          <a:noFill/>
          <a:ln/>
        </p:spPr>
        <p:txBody>
          <a:bodyPr wrap="square" lIns="0" tIns="0" rIns="0" bIns="0" rtlCol="0" anchor="ctr"/>
          <a:lstStyle/>
          <a:p>
            <a:pPr marL="0" indent="0">
              <a:buNone/>
            </a:pPr>
            <a:r>
              <a:rPr lang="en-US" sz="1050" dirty="0">
                <a:solidFill>
                  <a:srgbClr val="7030A0"/>
                </a:solidFill>
                <a:latin typeface="Calibri" pitchFamily="34" charset="0"/>
                <a:ea typeface="Calibri" pitchFamily="34" charset="-122"/>
                <a:cs typeface="Calibri" pitchFamily="34" charset="-120"/>
              </a:rPr>
              <a:t>These two genres alone account for nearly 50% of all global sales. A publisher entering a new market should prioritise these categories to maximise commercial reach.</a:t>
            </a:r>
            <a:endParaRPr lang="en-US" sz="1050" dirty="0">
              <a:solidFill>
                <a:srgbClr val="7030A0"/>
              </a:solidFill>
            </a:endParaRPr>
          </a:p>
        </p:txBody>
      </p:sp>
      <p:sp>
        <p:nvSpPr>
          <p:cNvPr id="8" name="Shape 6"/>
          <p:cNvSpPr/>
          <p:nvPr/>
        </p:nvSpPr>
        <p:spPr>
          <a:xfrm>
            <a:off x="4846320" y="1325880"/>
            <a:ext cx="4206240" cy="1600200"/>
          </a:xfrm>
          <a:prstGeom prst="rect">
            <a:avLst/>
          </a:prstGeom>
          <a:solidFill>
            <a:srgbClr val="0D1B2A"/>
          </a:solidFill>
          <a:ln w="12700">
            <a:solidFill>
              <a:srgbClr val="0D1B2A"/>
            </a:solidFill>
            <a:prstDash val="solid"/>
          </a:ln>
          <a:effectLst>
            <a:outerShdw blurRad="101600" dist="25400" dir="8100000" algn="bl" rotWithShape="0">
              <a:srgbClr val="000000">
                <a:alpha val="10000"/>
              </a:srgbClr>
            </a:outerShdw>
          </a:effectLst>
        </p:spPr>
        <p:txBody>
          <a:bodyPr/>
          <a:lstStyle/>
          <a:p>
            <a:endParaRPr lang="en-US"/>
          </a:p>
        </p:txBody>
      </p:sp>
      <p:sp>
        <p:nvSpPr>
          <p:cNvPr id="9" name="Text 7"/>
          <p:cNvSpPr/>
          <p:nvPr/>
        </p:nvSpPr>
        <p:spPr>
          <a:xfrm>
            <a:off x="5010912" y="1435608"/>
            <a:ext cx="502920" cy="411480"/>
          </a:xfrm>
          <a:prstGeom prst="rect">
            <a:avLst/>
          </a:prstGeom>
          <a:noFill/>
          <a:ln/>
        </p:spPr>
        <p:txBody>
          <a:bodyPr wrap="square" lIns="0" tIns="0" rIns="0" bIns="0" rtlCol="0" anchor="ctr"/>
          <a:lstStyle/>
          <a:p>
            <a:pPr marL="0" indent="0">
              <a:buNone/>
            </a:pPr>
            <a:r>
              <a:rPr lang="en-US" sz="2200" b="1" dirty="0">
                <a:solidFill>
                  <a:srgbClr val="7030A0"/>
                </a:solidFill>
                <a:latin typeface="Calibri" pitchFamily="34" charset="0"/>
                <a:ea typeface="Calibri" pitchFamily="34" charset="-122"/>
                <a:cs typeface="Calibri" pitchFamily="34" charset="-120"/>
              </a:rPr>
              <a:t>02</a:t>
            </a:r>
            <a:endParaRPr lang="en-US" sz="2200" dirty="0">
              <a:solidFill>
                <a:srgbClr val="7030A0"/>
              </a:solidFill>
            </a:endParaRPr>
          </a:p>
        </p:txBody>
      </p:sp>
      <p:sp>
        <p:nvSpPr>
          <p:cNvPr id="10" name="Text 8"/>
          <p:cNvSpPr/>
          <p:nvPr/>
        </p:nvSpPr>
        <p:spPr>
          <a:xfrm>
            <a:off x="5532120" y="1435608"/>
            <a:ext cx="333756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North America is the key market</a:t>
            </a:r>
            <a:endParaRPr lang="en-US" sz="1200" dirty="0"/>
          </a:p>
        </p:txBody>
      </p:sp>
      <p:sp>
        <p:nvSpPr>
          <p:cNvPr id="11" name="Text 9"/>
          <p:cNvSpPr/>
          <p:nvPr/>
        </p:nvSpPr>
        <p:spPr>
          <a:xfrm>
            <a:off x="5010912" y="1920240"/>
            <a:ext cx="3886200" cy="868680"/>
          </a:xfrm>
          <a:prstGeom prst="rect">
            <a:avLst/>
          </a:prstGeom>
          <a:noFill/>
          <a:ln/>
        </p:spPr>
        <p:txBody>
          <a:bodyPr wrap="square" lIns="0" tIns="0" rIns="0" bIns="0" rtlCol="0" anchor="ctr"/>
          <a:lstStyle/>
          <a:p>
            <a:pPr marL="0" indent="0">
              <a:buNone/>
            </a:pPr>
            <a:r>
              <a:rPr lang="en-US" sz="1050" dirty="0">
                <a:solidFill>
                  <a:srgbClr val="7030A0"/>
                </a:solidFill>
                <a:latin typeface="Calibri" pitchFamily="34" charset="0"/>
                <a:ea typeface="Calibri" pitchFamily="34" charset="-122"/>
                <a:cs typeface="Calibri" pitchFamily="34" charset="-120"/>
              </a:rPr>
              <a:t>NA Sales is the single strongest predictor of global success (67% feature importance). Marketing budgets and launch strategies should prioritise the North American market first.</a:t>
            </a:r>
            <a:endParaRPr lang="en-US" sz="1050" dirty="0">
              <a:solidFill>
                <a:srgbClr val="7030A0"/>
              </a:solidFill>
            </a:endParaRPr>
          </a:p>
        </p:txBody>
      </p:sp>
      <p:sp>
        <p:nvSpPr>
          <p:cNvPr id="12" name="Shape 10"/>
          <p:cNvSpPr/>
          <p:nvPr/>
        </p:nvSpPr>
        <p:spPr>
          <a:xfrm>
            <a:off x="457200" y="3154680"/>
            <a:ext cx="4206240" cy="1600200"/>
          </a:xfrm>
          <a:prstGeom prst="rect">
            <a:avLst/>
          </a:prstGeom>
          <a:solidFill>
            <a:srgbClr val="F1F5F9"/>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US"/>
          </a:p>
        </p:txBody>
      </p:sp>
      <p:sp>
        <p:nvSpPr>
          <p:cNvPr id="13" name="Text 11"/>
          <p:cNvSpPr/>
          <p:nvPr/>
        </p:nvSpPr>
        <p:spPr>
          <a:xfrm>
            <a:off x="621792" y="3264408"/>
            <a:ext cx="502920" cy="411480"/>
          </a:xfrm>
          <a:prstGeom prst="rect">
            <a:avLst/>
          </a:prstGeom>
          <a:noFill/>
          <a:ln/>
        </p:spPr>
        <p:txBody>
          <a:bodyPr wrap="square" lIns="0" tIns="0" rIns="0" bIns="0" rtlCol="0" anchor="ctr"/>
          <a:lstStyle/>
          <a:p>
            <a:pPr marL="0" indent="0">
              <a:buNone/>
            </a:pPr>
            <a:r>
              <a:rPr lang="en-US" sz="2200" b="1" dirty="0">
                <a:solidFill>
                  <a:srgbClr val="7030A0"/>
                </a:solidFill>
                <a:latin typeface="Calibri" pitchFamily="34" charset="0"/>
                <a:ea typeface="Calibri" pitchFamily="34" charset="-122"/>
                <a:cs typeface="Calibri" pitchFamily="34" charset="-120"/>
              </a:rPr>
              <a:t>03</a:t>
            </a:r>
            <a:endParaRPr lang="en-US" sz="2200" dirty="0">
              <a:solidFill>
                <a:srgbClr val="7030A0"/>
              </a:solidFill>
            </a:endParaRPr>
          </a:p>
        </p:txBody>
      </p:sp>
      <p:sp>
        <p:nvSpPr>
          <p:cNvPr id="14" name="Text 12"/>
          <p:cNvSpPr/>
          <p:nvPr/>
        </p:nvSpPr>
        <p:spPr>
          <a:xfrm>
            <a:off x="1143000" y="3264408"/>
            <a:ext cx="33375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Platform choice is critical</a:t>
            </a:r>
            <a:endParaRPr lang="en-US" sz="1200" dirty="0"/>
          </a:p>
        </p:txBody>
      </p:sp>
      <p:sp>
        <p:nvSpPr>
          <p:cNvPr id="15" name="Text 13"/>
          <p:cNvSpPr/>
          <p:nvPr/>
        </p:nvSpPr>
        <p:spPr>
          <a:xfrm>
            <a:off x="621792" y="3749040"/>
            <a:ext cx="388620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PS2, X360, and PS3 dominate historical sales. New releases on high-install-base platforms significantly outperform niche platforms. Exclusivity deals should target market leaders.</a:t>
            </a:r>
            <a:endParaRPr lang="en-US" sz="1050" dirty="0"/>
          </a:p>
        </p:txBody>
      </p:sp>
      <p:sp>
        <p:nvSpPr>
          <p:cNvPr id="16" name="Shape 14"/>
          <p:cNvSpPr/>
          <p:nvPr/>
        </p:nvSpPr>
        <p:spPr>
          <a:xfrm>
            <a:off x="4846320" y="3154680"/>
            <a:ext cx="4206240" cy="1600200"/>
          </a:xfrm>
          <a:prstGeom prst="rect">
            <a:avLst/>
          </a:prstGeom>
          <a:solidFill>
            <a:srgbClr val="F1F5F9"/>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US"/>
          </a:p>
        </p:txBody>
      </p:sp>
      <p:sp>
        <p:nvSpPr>
          <p:cNvPr id="17" name="Text 15"/>
          <p:cNvSpPr/>
          <p:nvPr/>
        </p:nvSpPr>
        <p:spPr>
          <a:xfrm>
            <a:off x="5010912" y="3264408"/>
            <a:ext cx="502920" cy="411480"/>
          </a:xfrm>
          <a:prstGeom prst="rect">
            <a:avLst/>
          </a:prstGeom>
          <a:noFill/>
          <a:ln/>
        </p:spPr>
        <p:txBody>
          <a:bodyPr wrap="square" lIns="0" tIns="0" rIns="0" bIns="0" rtlCol="0" anchor="ctr"/>
          <a:lstStyle/>
          <a:p>
            <a:pPr marL="0" indent="0">
              <a:buNone/>
            </a:pPr>
            <a:r>
              <a:rPr lang="en-US" sz="2200" b="1" dirty="0">
                <a:solidFill>
                  <a:srgbClr val="7030A0"/>
                </a:solidFill>
                <a:latin typeface="Calibri" pitchFamily="34" charset="0"/>
                <a:ea typeface="Calibri" pitchFamily="34" charset="-122"/>
                <a:cs typeface="Calibri" pitchFamily="34" charset="-120"/>
              </a:rPr>
              <a:t>04</a:t>
            </a:r>
            <a:endParaRPr lang="en-US" sz="2200" dirty="0">
              <a:solidFill>
                <a:srgbClr val="7030A0"/>
              </a:solidFill>
            </a:endParaRPr>
          </a:p>
        </p:txBody>
      </p:sp>
      <p:sp>
        <p:nvSpPr>
          <p:cNvPr id="18" name="Text 16"/>
          <p:cNvSpPr/>
          <p:nvPr/>
        </p:nvSpPr>
        <p:spPr>
          <a:xfrm>
            <a:off x="5532120" y="3264408"/>
            <a:ext cx="33375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The market has shifted — adapt or lose</a:t>
            </a:r>
            <a:endParaRPr lang="en-US" sz="1200" dirty="0"/>
          </a:p>
        </p:txBody>
      </p:sp>
      <p:sp>
        <p:nvSpPr>
          <p:cNvPr id="19" name="Text 17"/>
          <p:cNvSpPr/>
          <p:nvPr/>
        </p:nvSpPr>
        <p:spPr>
          <a:xfrm>
            <a:off x="5010912" y="3749040"/>
            <a:ext cx="388620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Peak sales in 2008–2009 followed by a steep decline signals a structural market shift toward mobile and digital. Publishers must diversify into mobile, subscription services, and digital storefronts.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411480" y="36576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Text 2"/>
          <p:cNvSpPr/>
          <p:nvPr/>
        </p:nvSpPr>
        <p:spPr>
          <a:xfrm>
            <a:off x="411480" y="1143000"/>
            <a:ext cx="8412480" cy="3200400"/>
          </a:xfrm>
          <a:prstGeom prst="rect">
            <a:avLst/>
          </a:prstGeom>
          <a:noFill/>
          <a:ln/>
        </p:spPr>
        <p:txBody>
          <a:bodyPr wrap="square" lIns="0" tIns="0" rIns="0" bIns="0" rtlCol="0" anchor="ctr"/>
          <a:lstStyle/>
          <a:p>
            <a:pPr marL="0" indent="0">
              <a:spcAft>
                <a:spcPts val="1400"/>
              </a:spcAft>
              <a:buNone/>
            </a:pPr>
            <a:r>
              <a:rPr lang="en-US" sz="1300" b="1" dirty="0">
                <a:solidFill>
                  <a:srgbClr val="7030A0"/>
                </a:solidFill>
                <a:latin typeface="Calibri" pitchFamily="34" charset="0"/>
                <a:ea typeface="Calibri" pitchFamily="34" charset="-122"/>
                <a:cs typeface="Calibri" pitchFamily="34" charset="-120"/>
              </a:rPr>
              <a:t>01</a:t>
            </a:r>
            <a:r>
              <a:rPr lang="en-US" sz="1300" b="1" dirty="0">
                <a:solidFill>
                  <a:srgbClr val="0D9488"/>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Preprocessed 16,598 game records — fixed missing values, removed duplicates, engineered 4 new features</a:t>
            </a:r>
            <a:endParaRPr lang="en-US" sz="1300" dirty="0"/>
          </a:p>
          <a:p>
            <a:pPr marL="0" indent="0">
              <a:spcAft>
                <a:spcPts val="1400"/>
              </a:spcAft>
              <a:buNone/>
            </a:pPr>
            <a:r>
              <a:rPr lang="en-US" sz="1300" b="1" dirty="0">
                <a:solidFill>
                  <a:srgbClr val="7030A0"/>
                </a:solidFill>
                <a:latin typeface="Calibri" pitchFamily="34" charset="0"/>
                <a:ea typeface="Calibri" pitchFamily="34" charset="-122"/>
                <a:cs typeface="Calibri" pitchFamily="34" charset="-120"/>
              </a:rPr>
              <a:t>02 </a:t>
            </a:r>
            <a:r>
              <a:rPr lang="en-US" sz="1300" b="1" dirty="0">
                <a:solidFill>
                  <a:srgbClr val="0D9488"/>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EDA revealed Action as the dominant genre and PS2 as the top platform — sales peaked in 2008–2009</a:t>
            </a:r>
            <a:endParaRPr lang="en-US" sz="1300" dirty="0"/>
          </a:p>
          <a:p>
            <a:pPr marL="0" indent="0">
              <a:spcAft>
                <a:spcPts val="1400"/>
              </a:spcAft>
              <a:buNone/>
            </a:pPr>
            <a:r>
              <a:rPr lang="en-US" sz="1300" b="1" dirty="0">
                <a:solidFill>
                  <a:srgbClr val="7030A0"/>
                </a:solidFill>
                <a:latin typeface="Calibri" pitchFamily="34" charset="0"/>
                <a:ea typeface="Calibri" pitchFamily="34" charset="-122"/>
                <a:cs typeface="Calibri" pitchFamily="34" charset="-120"/>
              </a:rPr>
              <a:t>03</a:t>
            </a:r>
            <a:r>
              <a:rPr lang="en-US" sz="1300" b="1" dirty="0">
                <a:solidFill>
                  <a:srgbClr val="0D9488"/>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PySpark aggregations and Spark SQL confirmed trends at scale across the full dataset</a:t>
            </a:r>
            <a:endParaRPr lang="en-US" sz="1300" dirty="0"/>
          </a:p>
          <a:p>
            <a:pPr marL="0" indent="0">
              <a:spcAft>
                <a:spcPts val="1400"/>
              </a:spcAft>
              <a:buNone/>
            </a:pPr>
            <a:r>
              <a:rPr lang="en-US" sz="1300" b="1" dirty="0">
                <a:solidFill>
                  <a:srgbClr val="7030A0"/>
                </a:solidFill>
                <a:latin typeface="Calibri" pitchFamily="34" charset="0"/>
                <a:ea typeface="Calibri" pitchFamily="34" charset="-122"/>
                <a:cs typeface="Calibri" pitchFamily="34" charset="-120"/>
              </a:rPr>
              <a:t>04</a:t>
            </a:r>
            <a:r>
              <a:rPr lang="en-US" sz="1300" b="1" dirty="0">
                <a:solidFill>
                  <a:srgbClr val="0D9488"/>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Random Forest model trained on 7 features — NA_Sales drives 67% of Global Sales prediction</a:t>
            </a:r>
            <a:endParaRPr lang="en-US" sz="1300" dirty="0"/>
          </a:p>
          <a:p>
            <a:pPr marL="0" indent="0">
              <a:spcAft>
                <a:spcPts val="1400"/>
              </a:spcAft>
              <a:buNone/>
            </a:pPr>
            <a:r>
              <a:rPr lang="en-US" sz="1300" b="1" dirty="0">
                <a:solidFill>
                  <a:srgbClr val="7030A0"/>
                </a:solidFill>
                <a:latin typeface="Calibri" pitchFamily="34" charset="0"/>
                <a:ea typeface="Calibri" pitchFamily="34" charset="-122"/>
                <a:cs typeface="Calibri" pitchFamily="34" charset="-120"/>
              </a:rPr>
              <a:t>05</a:t>
            </a:r>
            <a:r>
              <a:rPr lang="en-US" sz="1300" b="1" dirty="0">
                <a:solidFill>
                  <a:srgbClr val="0D9488"/>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Power BI dashboard built with 4 interactive visuals for non-technical stakeholders</a:t>
            </a:r>
            <a:endParaRPr lang="en-US" sz="1300" dirty="0"/>
          </a:p>
        </p:txBody>
      </p:sp>
      <p:sp>
        <p:nvSpPr>
          <p:cNvPr id="5" name="Shape 3"/>
          <p:cNvSpPr/>
          <p:nvPr/>
        </p:nvSpPr>
        <p:spPr>
          <a:xfrm>
            <a:off x="411480" y="4434840"/>
            <a:ext cx="8412480" cy="36576"/>
          </a:xfrm>
          <a:prstGeom prst="rect">
            <a:avLst/>
          </a:prstGeom>
          <a:solidFill>
            <a:srgbClr val="64748B"/>
          </a:solidFill>
          <a:ln w="12700">
            <a:solidFill>
              <a:srgbClr val="64748B"/>
            </a:solidFill>
            <a:prstDash val="solid"/>
          </a:ln>
        </p:spPr>
        <p:txBody>
          <a:bodyPr/>
          <a:lstStyle/>
          <a:p>
            <a:endParaRPr lang="en-US"/>
          </a:p>
        </p:txBody>
      </p:sp>
      <p:sp>
        <p:nvSpPr>
          <p:cNvPr id="6" name="Text 4"/>
          <p:cNvSpPr/>
          <p:nvPr/>
        </p:nvSpPr>
        <p:spPr>
          <a:xfrm>
            <a:off x="411480" y="4526280"/>
            <a:ext cx="84124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Serban Iulia Maria  ·  Big Data Fundamentals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1104</Words>
  <Application>Microsoft Office PowerPoint</Application>
  <PresentationFormat>On-screen Show (16:9)</PresentationFormat>
  <Paragraphs>107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Game Sales Analysis</dc:title>
  <dc:subject>PptxGenJS Presentation</dc:subject>
  <dc:creator>Serban Iulia Maria</dc:creator>
  <cp:lastModifiedBy>Serban Iulia Maria</cp:lastModifiedBy>
  <cp:revision>4</cp:revision>
  <dcterms:created xsi:type="dcterms:W3CDTF">2026-06-06T21:06:52Z</dcterms:created>
  <dcterms:modified xsi:type="dcterms:W3CDTF">2026-06-10T21:06:12Z</dcterms:modified>
</cp:coreProperties>
</file>