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873" autoAdjust="0"/>
    <p:restoredTop sz="78571" autoAdjust="0"/>
  </p:normalViewPr>
  <p:slideViewPr>
    <p:cSldViewPr snapToGrid="0" snapToObjects="1">
      <p:cViewPr varScale="1">
        <p:scale>
          <a:sx n="115" d="100"/>
          <a:sy n="115" d="100"/>
        </p:scale>
        <p:origin x="199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7030A0"/>
            </a:solidFill>
            <a:ln>
              <a:solidFill>
                <a:srgbClr val="7030A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7030A0"/>
              </a:solidFill>
              <a:prstDash val="solid"/>
              <a:round/>
            </a:ln>
            <a:effectLst/>
          </c:spPr>
          <c:marker>
            <c:symbol val="circle"/>
            <c:size val="6"/>
            <c:spPr>
              <a:solidFill>
                <a:srgbClr val="7030A0"/>
              </a:solidFill>
              <a:ln w="9525" cap="flat">
                <a:solidFill>
                  <a:srgbClr val="7030A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7030A0"/>
            </a:solidFill>
            <a:ln>
              <a:solidFill>
                <a:srgbClr val="7030A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My </a:t>
            </a:r>
            <a:r>
              <a:rPr lang="en-US" dirty="0"/>
              <a:t>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7030A0"/>
                </a:solidFill>
                <a:latin typeface="Calibri" pitchFamily="34" charset="0"/>
                <a:ea typeface="Calibri" pitchFamily="34" charset="-122"/>
                <a:cs typeface="Calibri" pitchFamily="34" charset="-120"/>
              </a:rPr>
              <a:t>Predicting Global Sales · Big Data Fundamentals Project</a:t>
            </a:r>
            <a:endParaRPr lang="en-US" sz="1800" dirty="0">
              <a:solidFill>
                <a:srgbClr val="7030A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7030A0"/>
          </a:solidFill>
          <a:ln w="12700">
            <a:solidFill>
              <a:srgbClr val="7030A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45720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457200" y="1097280"/>
            <a:ext cx="1965960" cy="73152"/>
          </a:xfrm>
          <a:prstGeom prst="rect">
            <a:avLst/>
          </a:prstGeom>
          <a:solidFill>
            <a:srgbClr val="7030A0"/>
          </a:solidFill>
          <a:ln w="12700">
            <a:solidFill>
              <a:srgbClr val="7030A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Business Question</a:t>
            </a:r>
            <a:endParaRPr lang="en-US" sz="1200" dirty="0">
              <a:solidFill>
                <a:srgbClr val="7030A0"/>
              </a:solidFill>
            </a:endParaRPr>
          </a:p>
        </p:txBody>
      </p:sp>
      <p:sp>
        <p:nvSpPr>
          <p:cNvPr id="6" name="Text 4"/>
          <p:cNvSpPr/>
          <p:nvPr/>
        </p:nvSpPr>
        <p:spPr>
          <a:xfrm>
            <a:off x="525780" y="173736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7030A0"/>
          </a:solidFill>
          <a:ln w="12700">
            <a:solidFill>
              <a:srgbClr val="7030A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Dataset</a:t>
            </a:r>
            <a:endParaRPr lang="en-US" sz="1200" dirty="0">
              <a:solidFill>
                <a:srgbClr val="7030A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7030A0"/>
          </a:solidFill>
          <a:ln w="12700">
            <a:solidFill>
              <a:srgbClr val="7030A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Approach</a:t>
            </a:r>
            <a:endParaRPr lang="en-US" sz="1200" dirty="0">
              <a:solidFill>
                <a:srgbClr val="7030A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82880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828800" cy="73152"/>
          </a:xfrm>
          <a:prstGeom prst="rect">
            <a:avLst/>
          </a:prstGeom>
          <a:solidFill>
            <a:srgbClr val="7030A0"/>
          </a:solidFill>
          <a:ln w="12700">
            <a:solidFill>
              <a:srgbClr val="7030A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Outcome</a:t>
            </a:r>
            <a:endParaRPr lang="en-US" sz="1200" dirty="0">
              <a:solidFill>
                <a:srgbClr val="7030A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22860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320040"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01</a:t>
            </a:r>
            <a:endParaRPr lang="en-US" sz="2800" dirty="0">
              <a:solidFill>
                <a:srgbClr val="7030A0"/>
              </a:solidFill>
            </a:endParaRPr>
          </a:p>
        </p:txBody>
      </p:sp>
      <p:sp>
        <p:nvSpPr>
          <p:cNvPr id="5" name="Text 3"/>
          <p:cNvSpPr/>
          <p:nvPr/>
        </p:nvSpPr>
        <p:spPr>
          <a:xfrm>
            <a:off x="32004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320040"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CSV from Kaggle</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16,598 game records</a:t>
            </a:r>
            <a:endParaRPr lang="en-US" sz="1100" dirty="0">
              <a:solidFill>
                <a:srgbClr val="7030A0"/>
              </a:solidFill>
            </a:endParaRPr>
          </a:p>
        </p:txBody>
      </p:sp>
      <p:sp>
        <p:nvSpPr>
          <p:cNvPr id="7" name="Shape 5"/>
          <p:cNvSpPr/>
          <p:nvPr/>
        </p:nvSpPr>
        <p:spPr>
          <a:xfrm>
            <a:off x="182880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2039112"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13055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13055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13055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63931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4962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941064"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03</a:t>
            </a:r>
            <a:endParaRPr lang="en-US" sz="2800" dirty="0">
              <a:solidFill>
                <a:srgbClr val="7030A0"/>
              </a:solidFill>
            </a:endParaRPr>
          </a:p>
        </p:txBody>
      </p:sp>
      <p:sp>
        <p:nvSpPr>
          <p:cNvPr id="15" name="Text 13"/>
          <p:cNvSpPr/>
          <p:nvPr/>
        </p:nvSpPr>
        <p:spPr>
          <a:xfrm>
            <a:off x="394106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941064"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5 charts: genres,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platforms, trends,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top games, heatmap</a:t>
            </a:r>
            <a:endParaRPr lang="en-US" sz="1100" dirty="0">
              <a:solidFill>
                <a:srgbClr val="7030A0"/>
              </a:solidFill>
            </a:endParaRPr>
          </a:p>
        </p:txBody>
      </p:sp>
      <p:sp>
        <p:nvSpPr>
          <p:cNvPr id="17" name="Shape 15"/>
          <p:cNvSpPr/>
          <p:nvPr/>
        </p:nvSpPr>
        <p:spPr>
          <a:xfrm>
            <a:off x="544982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60136"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5157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5157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5157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6033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7064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62088"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05</a:t>
            </a:r>
            <a:endParaRPr lang="en-US" sz="2800" dirty="0">
              <a:solidFill>
                <a:srgbClr val="7030A0"/>
              </a:solidFill>
            </a:endParaRPr>
          </a:p>
        </p:txBody>
      </p:sp>
      <p:sp>
        <p:nvSpPr>
          <p:cNvPr id="25" name="Text 23"/>
          <p:cNvSpPr/>
          <p:nvPr/>
        </p:nvSpPr>
        <p:spPr>
          <a:xfrm>
            <a:off x="756208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62088"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Random Forest</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Regressor for</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Global Sales</a:t>
            </a:r>
            <a:endParaRPr lang="en-US" sz="1100" dirty="0">
              <a:solidFill>
                <a:srgbClr val="7030A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169770312"/>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3431833749"/>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4213525232"/>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77367656"/>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Model — Random Forest</a:t>
            </a:r>
            <a:endParaRPr lang="en-US" sz="3200" dirty="0"/>
          </a:p>
        </p:txBody>
      </p:sp>
      <p:graphicFrame>
        <p:nvGraphicFramePr>
          <p:cNvPr id="3" name="Chart 0"/>
          <p:cNvGraphicFramePr/>
          <p:nvPr>
            <p:extLst>
              <p:ext uri="{D42A27DB-BD31-4B8C-83A1-F6EECF244321}">
                <p14:modId xmlns:p14="http://schemas.microsoft.com/office/powerpoint/2010/main" val="1189075834"/>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01</a:t>
            </a:r>
            <a:endParaRPr lang="en-US" sz="2200" dirty="0">
              <a:solidFill>
                <a:srgbClr val="7030A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7030A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02</a:t>
            </a:r>
            <a:endParaRPr lang="en-US" sz="2200" dirty="0">
              <a:solidFill>
                <a:srgbClr val="7030A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7030A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03</a:t>
            </a:r>
            <a:endParaRPr lang="en-US" sz="2200" dirty="0">
              <a:solidFill>
                <a:srgbClr val="7030A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04</a:t>
            </a:r>
            <a:endParaRPr lang="en-US" sz="2200" dirty="0">
              <a:solidFill>
                <a:srgbClr val="7030A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TotalTime>
  <Words>1099</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9</cp:revision>
  <dcterms:created xsi:type="dcterms:W3CDTF">2026-06-06T21:06:52Z</dcterms:created>
  <dcterms:modified xsi:type="dcterms:W3CDTF">2026-06-11T05:15:37Z</dcterms:modified>
</cp:coreProperties>
</file>